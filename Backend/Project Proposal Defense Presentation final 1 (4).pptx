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embeddedFontLst>
    <p:embeddedFont>
      <p:font typeface="Robo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i1tqIAlTzHtRTaALUOHA3C8vNa5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font" Target="fonts/Roboto-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Roboto-bold.fntdata"/><Relationship Id="rId6" Type="http://schemas.openxmlformats.org/officeDocument/2006/relationships/slide" Target="slides/slide2.xml"/><Relationship Id="rId18" Type="http://schemas.openxmlformats.org/officeDocument/2006/relationships/font" Target="fonts/Roboto-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b14a4ceb3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g3b14a4ceb3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a440938552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g3a440938552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2"/>
          <p:cNvSpPr/>
          <p:nvPr>
            <p:ph idx="2" type="pic"/>
          </p:nvPr>
        </p:nvSpPr>
        <p:spPr>
          <a:xfrm>
            <a:off x="5183188" y="987425"/>
            <a:ext cx="6172200" cy="4873625"/>
          </a:xfrm>
          <a:prstGeom prst="rect">
            <a:avLst/>
          </a:prstGeom>
          <a:noFill/>
          <a:ln>
            <a:noFill/>
          </a:ln>
        </p:spPr>
      </p:sp>
      <p:sp>
        <p:nvSpPr>
          <p:cNvPr id="64" name="Google Shape;64;p2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B2444"/>
        </a:solidFill>
      </p:bgPr>
    </p:bg>
    <p:spTree>
      <p:nvGrpSpPr>
        <p:cNvPr id="83" name="Shape 83"/>
        <p:cNvGrpSpPr/>
        <p:nvPr/>
      </p:nvGrpSpPr>
      <p:grpSpPr>
        <a:xfrm>
          <a:off x="0" y="0"/>
          <a:ext cx="0" cy="0"/>
          <a:chOff x="0" y="0"/>
          <a:chExt cx="0" cy="0"/>
        </a:xfrm>
      </p:grpSpPr>
      <p:sp>
        <p:nvSpPr>
          <p:cNvPr id="84" name="Google Shape;84;p1"/>
          <p:cNvSpPr txBox="1"/>
          <p:nvPr>
            <p:ph type="ctrTitle"/>
          </p:nvPr>
        </p:nvSpPr>
        <p:spPr>
          <a:xfrm>
            <a:off x="547250" y="75250"/>
            <a:ext cx="11014500" cy="12495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alibri"/>
              <a:buNone/>
            </a:pPr>
            <a:r>
              <a:rPr lang="en-US">
                <a:solidFill>
                  <a:schemeClr val="lt1"/>
                </a:solidFill>
              </a:rPr>
              <a:t>BEAUTY-PERSONILZED BY AI</a:t>
            </a:r>
            <a:endParaRPr/>
          </a:p>
        </p:txBody>
      </p:sp>
      <p:sp>
        <p:nvSpPr>
          <p:cNvPr id="85" name="Google Shape;85;p1"/>
          <p:cNvSpPr txBox="1"/>
          <p:nvPr>
            <p:ph idx="1" type="subTitle"/>
          </p:nvPr>
        </p:nvSpPr>
        <p:spPr>
          <a:xfrm>
            <a:off x="7333675" y="2346020"/>
            <a:ext cx="4858325" cy="318735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400"/>
              <a:buNone/>
            </a:pPr>
            <a:r>
              <a:rPr lang="en-US">
                <a:solidFill>
                  <a:schemeClr val="lt1"/>
                </a:solidFill>
              </a:rPr>
              <a:t>Name:  </a:t>
            </a:r>
            <a:endParaRPr>
              <a:solidFill>
                <a:schemeClr val="lt1"/>
              </a:solidFill>
            </a:endParaRPr>
          </a:p>
          <a:p>
            <a:pPr indent="0" lvl="0" marL="0" rtl="0" algn="l">
              <a:lnSpc>
                <a:spcPct val="90000"/>
              </a:lnSpc>
              <a:spcBef>
                <a:spcPts val="0"/>
              </a:spcBef>
              <a:spcAft>
                <a:spcPts val="0"/>
              </a:spcAft>
              <a:buClr>
                <a:schemeClr val="lt1"/>
              </a:buClr>
              <a:buSzPts val="2400"/>
              <a:buNone/>
            </a:pPr>
            <a:r>
              <a:rPr lang="en-US">
                <a:solidFill>
                  <a:schemeClr val="lt1"/>
                </a:solidFill>
              </a:rPr>
              <a:t>Mujtaba Bilal Bela - F2022065105</a:t>
            </a:r>
            <a:endParaRPr/>
          </a:p>
          <a:p>
            <a:pPr indent="0" lvl="0" marL="0" rtl="0" algn="l">
              <a:lnSpc>
                <a:spcPct val="90000"/>
              </a:lnSpc>
              <a:spcBef>
                <a:spcPts val="0"/>
              </a:spcBef>
              <a:spcAft>
                <a:spcPts val="0"/>
              </a:spcAft>
              <a:buClr>
                <a:schemeClr val="lt1"/>
              </a:buClr>
              <a:buSzPts val="2400"/>
              <a:buNone/>
            </a:pPr>
            <a:r>
              <a:rPr lang="en-US">
                <a:solidFill>
                  <a:schemeClr val="lt1"/>
                </a:solidFill>
              </a:rPr>
              <a:t>Hammad Ahmad- F2022065091</a:t>
            </a:r>
            <a:endParaRPr>
              <a:solidFill>
                <a:schemeClr val="lt1"/>
              </a:solidFill>
            </a:endParaRPr>
          </a:p>
          <a:p>
            <a:pPr indent="0" lvl="0" marL="0" rtl="0" algn="l">
              <a:lnSpc>
                <a:spcPct val="90000"/>
              </a:lnSpc>
              <a:spcBef>
                <a:spcPts val="1000"/>
              </a:spcBef>
              <a:spcAft>
                <a:spcPts val="0"/>
              </a:spcAft>
              <a:buClr>
                <a:schemeClr val="lt1"/>
              </a:buClr>
              <a:buSzPts val="2400"/>
              <a:buNone/>
            </a:pPr>
            <a:r>
              <a:rPr lang="en-US">
                <a:solidFill>
                  <a:schemeClr val="lt1"/>
                </a:solidFill>
              </a:rPr>
              <a:t>Muhammad Anas - F2022065165</a:t>
            </a:r>
            <a:endParaRPr>
              <a:solidFill>
                <a:schemeClr val="lt1"/>
              </a:solidFill>
            </a:endParaRPr>
          </a:p>
          <a:p>
            <a:pPr indent="0" lvl="0" marL="0" rtl="0" algn="l">
              <a:lnSpc>
                <a:spcPct val="90000"/>
              </a:lnSpc>
              <a:spcBef>
                <a:spcPts val="1000"/>
              </a:spcBef>
              <a:spcAft>
                <a:spcPts val="0"/>
              </a:spcAft>
              <a:buClr>
                <a:schemeClr val="lt1"/>
              </a:buClr>
              <a:buSzPts val="2400"/>
              <a:buNone/>
            </a:pPr>
            <a:r>
              <a:rPr lang="en-US">
                <a:solidFill>
                  <a:schemeClr val="lt1"/>
                </a:solidFill>
              </a:rPr>
              <a:t>Quratulain - F2022065053</a:t>
            </a:r>
            <a:endParaRPr/>
          </a:p>
          <a:p>
            <a:pPr indent="0" lvl="0" marL="0" rtl="0" algn="ctr">
              <a:lnSpc>
                <a:spcPct val="90000"/>
              </a:lnSpc>
              <a:spcBef>
                <a:spcPts val="1000"/>
              </a:spcBef>
              <a:spcAft>
                <a:spcPts val="0"/>
              </a:spcAft>
              <a:buClr>
                <a:schemeClr val="dk1"/>
              </a:buClr>
              <a:buSzPts val="2400"/>
              <a:buNone/>
            </a:pPr>
            <a:r>
              <a:t/>
            </a:r>
            <a:endParaRPr>
              <a:solidFill>
                <a:schemeClr val="lt1"/>
              </a:solidFill>
            </a:endParaRPr>
          </a:p>
          <a:p>
            <a:pPr indent="0" lvl="0" marL="0" rtl="0" algn="ctr">
              <a:lnSpc>
                <a:spcPct val="90000"/>
              </a:lnSpc>
              <a:spcBef>
                <a:spcPts val="1000"/>
              </a:spcBef>
              <a:spcAft>
                <a:spcPts val="0"/>
              </a:spcAft>
              <a:buClr>
                <a:schemeClr val="dk1"/>
              </a:buClr>
              <a:buSzPts val="2400"/>
              <a:buNone/>
            </a:pPr>
            <a:r>
              <a:t/>
            </a:r>
            <a:endParaRPr>
              <a:solidFill>
                <a:schemeClr val="lt1"/>
              </a:solidFill>
            </a:endParaRPr>
          </a:p>
        </p:txBody>
      </p:sp>
      <p:sp>
        <p:nvSpPr>
          <p:cNvPr id="86" name="Google Shape;86;p1"/>
          <p:cNvSpPr txBox="1"/>
          <p:nvPr/>
        </p:nvSpPr>
        <p:spPr>
          <a:xfrm>
            <a:off x="6225308" y="5678055"/>
            <a:ext cx="4996872" cy="1179945"/>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2400"/>
              <a:buFont typeface="Arial"/>
              <a:buNone/>
            </a:pPr>
            <a:r>
              <a:rPr b="0" i="0" lang="en-US" sz="2400" u="none" cap="none" strike="noStrike">
                <a:solidFill>
                  <a:schemeClr val="lt1"/>
                </a:solidFill>
                <a:latin typeface="Calibri"/>
                <a:ea typeface="Calibri"/>
                <a:cs typeface="Calibri"/>
                <a:sym typeface="Calibri"/>
              </a:rPr>
              <a:t>Advisor:  	Asma Arshad</a:t>
            </a:r>
            <a:endParaRPr b="0" i="0" sz="1400" u="none" cap="none" strike="noStrike">
              <a:solidFill>
                <a:srgbClr val="000000"/>
              </a:solidFill>
              <a:latin typeface="Arial"/>
              <a:ea typeface="Arial"/>
              <a:cs typeface="Arial"/>
              <a:sym typeface="Arial"/>
            </a:endParaRPr>
          </a:p>
        </p:txBody>
      </p:sp>
      <p:pic>
        <p:nvPicPr>
          <p:cNvPr id="87" name="Google Shape;87;p1"/>
          <p:cNvPicPr preferRelativeResize="0"/>
          <p:nvPr/>
        </p:nvPicPr>
        <p:blipFill rotWithShape="1">
          <a:blip r:embed="rId3">
            <a:alphaModFix/>
          </a:blip>
          <a:srcRect b="0" l="0" r="0" t="0"/>
          <a:stretch/>
        </p:blipFill>
        <p:spPr>
          <a:xfrm>
            <a:off x="92363" y="5533374"/>
            <a:ext cx="3466181" cy="124936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B2444"/>
        </a:solidFill>
      </p:bgPr>
    </p:bg>
    <p:spTree>
      <p:nvGrpSpPr>
        <p:cNvPr id="91" name="Shape 91"/>
        <p:cNvGrpSpPr/>
        <p:nvPr/>
      </p:nvGrpSpPr>
      <p:grpSpPr>
        <a:xfrm>
          <a:off x="0" y="0"/>
          <a:ext cx="0" cy="0"/>
          <a:chOff x="0" y="0"/>
          <a:chExt cx="0" cy="0"/>
        </a:xfrm>
      </p:grpSpPr>
      <p:sp>
        <p:nvSpPr>
          <p:cNvPr id="92" name="Google Shape;92;g3b14a4ceb3d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Roboto"/>
              <a:buNone/>
            </a:pPr>
            <a:r>
              <a:rPr b="0" i="0" lang="en-US">
                <a:solidFill>
                  <a:schemeClr val="lt1"/>
                </a:solidFill>
                <a:latin typeface="Roboto"/>
                <a:ea typeface="Roboto"/>
                <a:cs typeface="Roboto"/>
                <a:sym typeface="Roboto"/>
              </a:rPr>
              <a:t>Overview of topic/domain</a:t>
            </a:r>
            <a:endParaRPr>
              <a:solidFill>
                <a:schemeClr val="lt1"/>
              </a:solidFill>
            </a:endParaRPr>
          </a:p>
        </p:txBody>
      </p:sp>
      <p:sp>
        <p:nvSpPr>
          <p:cNvPr id="93" name="Google Shape;93;g3b14a4ceb3d_0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2000">
                <a:solidFill>
                  <a:schemeClr val="lt1"/>
                </a:solidFill>
                <a:latin typeface="Arial"/>
                <a:ea typeface="Arial"/>
                <a:cs typeface="Arial"/>
                <a:sym typeface="Arial"/>
              </a:rPr>
              <a:t>Beauty Personalized by AI is a web and mobile-based platform designed to modernize the salon and beauty services industry. The system connects salon owners and customers through a single digital and unified platform. Customers can easily search for nearby salons, view available services, compare prices, book appointments, and make online payments. At the same time, salon owners can manage their services, appointments, and customer records through a centralized dashboard.</a:t>
            </a:r>
            <a:endParaRPr sz="2000">
              <a:solidFill>
                <a:schemeClr val="lt1"/>
              </a:solidFill>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2000">
                <a:solidFill>
                  <a:schemeClr val="lt1"/>
                </a:solidFill>
                <a:latin typeface="Arial"/>
                <a:ea typeface="Arial"/>
                <a:cs typeface="Arial"/>
                <a:sym typeface="Arial"/>
              </a:rPr>
              <a:t>The platform integrates Artificial Intelligence to provide personalized beauty recommendations such as suitable hairstyles, services, and salons based on user preferences and features. The main goal of this project is to </a:t>
            </a:r>
            <a:r>
              <a:rPr lang="en-US" sz="2000">
                <a:solidFill>
                  <a:schemeClr val="lt1"/>
                </a:solidFill>
                <a:latin typeface="Arial"/>
                <a:ea typeface="Arial"/>
                <a:cs typeface="Arial"/>
                <a:sym typeface="Arial"/>
              </a:rPr>
              <a:t>digitize</a:t>
            </a:r>
            <a:r>
              <a:rPr lang="en-US" sz="2000">
                <a:solidFill>
                  <a:schemeClr val="lt1"/>
                </a:solidFill>
                <a:latin typeface="Arial"/>
                <a:ea typeface="Arial"/>
                <a:cs typeface="Arial"/>
                <a:sym typeface="Arial"/>
              </a:rPr>
              <a:t> traditional salon operations, reduce manual work, and improve convenience, efficiency and user experience for both customers and salon owners.</a:t>
            </a:r>
            <a:endParaRPr sz="20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B2444"/>
        </a:solidFill>
      </p:bgPr>
    </p:bg>
    <p:spTree>
      <p:nvGrpSpPr>
        <p:cNvPr id="97" name="Shape 97"/>
        <p:cNvGrpSpPr/>
        <p:nvPr/>
      </p:nvGrpSpPr>
      <p:grpSpPr>
        <a:xfrm>
          <a:off x="0" y="0"/>
          <a:ext cx="0" cy="0"/>
          <a:chOff x="0" y="0"/>
          <a:chExt cx="0" cy="0"/>
        </a:xfrm>
      </p:grpSpPr>
      <p:sp>
        <p:nvSpPr>
          <p:cNvPr id="98" name="Google Shape;9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Roboto"/>
              <a:buNone/>
            </a:pPr>
            <a:r>
              <a:rPr b="0" i="0" lang="en-US">
                <a:solidFill>
                  <a:schemeClr val="lt1"/>
                </a:solidFill>
                <a:latin typeface="Roboto"/>
                <a:ea typeface="Roboto"/>
                <a:cs typeface="Roboto"/>
                <a:sym typeface="Roboto"/>
              </a:rPr>
              <a:t>Project Description</a:t>
            </a:r>
            <a:endParaRPr>
              <a:solidFill>
                <a:schemeClr val="lt1"/>
              </a:solidFill>
            </a:endParaRPr>
          </a:p>
        </p:txBody>
      </p:sp>
      <p:sp>
        <p:nvSpPr>
          <p:cNvPr id="99" name="Google Shape;99;p3"/>
          <p:cNvSpPr txBox="1"/>
          <p:nvPr>
            <p:ph idx="1" type="body"/>
          </p:nvPr>
        </p:nvSpPr>
        <p:spPr>
          <a:xfrm>
            <a:off x="838200" y="1461650"/>
            <a:ext cx="10515600" cy="5025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2000">
                <a:solidFill>
                  <a:srgbClr val="FFFFFF"/>
                </a:solidFill>
                <a:latin typeface="Arial"/>
                <a:ea typeface="Arial"/>
                <a:cs typeface="Arial"/>
                <a:sym typeface="Arial"/>
              </a:rPr>
              <a:t>The salon industry still largely depends on traditional methods such as manual appointment booking, phone calls, and walk-in customers. This creates problems for both customers and salon owners. Customers often face difficulty in finding available salons, checking service prices, and booking appointments at their preferred time. On the other hand, salon owners struggle with managing bookings, handling customer records, and organizing daily operations efficiently.</a:t>
            </a:r>
            <a:endParaRPr sz="2000">
              <a:solidFill>
                <a:srgbClr val="FFFFFF"/>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2000">
                <a:solidFill>
                  <a:srgbClr val="FFFFFF"/>
                </a:solidFill>
                <a:latin typeface="Arial"/>
                <a:ea typeface="Arial"/>
                <a:cs typeface="Arial"/>
                <a:sym typeface="Arial"/>
              </a:rPr>
              <a:t>This project proposes an intelligent, AI-powered salon management and booking system that solves these issues by providing a centralized digital solution. The system allows customers to book appointments online, receive personalized beauty recommendations, and make secure payments. Salon owners can easily manage their services, schedules, and clients through an automated system. By combining web and mobile platforms with AI features, the project aims to improve service quality, save time, and enhance the overall experience in the beauty and salon industry.</a:t>
            </a:r>
            <a:endParaRPr sz="2000">
              <a:solidFill>
                <a:srgbClr val="FFFFFF"/>
              </a:solidFill>
              <a:latin typeface="Arial"/>
              <a:ea typeface="Arial"/>
              <a:cs typeface="Arial"/>
              <a:sym typeface="Arial"/>
            </a:endParaRPr>
          </a:p>
          <a:p>
            <a:pPr indent="0" lvl="0" marL="0" rtl="0" algn="l">
              <a:lnSpc>
                <a:spcPct val="70000"/>
              </a:lnSpc>
              <a:spcBef>
                <a:spcPts val="1200"/>
              </a:spcBef>
              <a:spcAft>
                <a:spcPts val="0"/>
              </a:spcAft>
              <a:buSzPts val="1800"/>
              <a:buNone/>
            </a:pPr>
            <a:r>
              <a:t/>
            </a:r>
            <a:endParaRPr sz="2000">
              <a:solidFill>
                <a:srgbClr val="FFFFFF"/>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B2444"/>
        </a:solidFill>
      </p:bgPr>
    </p:bg>
    <p:spTree>
      <p:nvGrpSpPr>
        <p:cNvPr id="103" name="Shape 103"/>
        <p:cNvGrpSpPr/>
        <p:nvPr/>
      </p:nvGrpSpPr>
      <p:grpSpPr>
        <a:xfrm>
          <a:off x="0" y="0"/>
          <a:ext cx="0" cy="0"/>
          <a:chOff x="0" y="0"/>
          <a:chExt cx="0" cy="0"/>
        </a:xfrm>
      </p:grpSpPr>
      <p:sp>
        <p:nvSpPr>
          <p:cNvPr id="104" name="Google Shape;104;p4"/>
          <p:cNvSpPr txBox="1"/>
          <p:nvPr>
            <p:ph type="title"/>
          </p:nvPr>
        </p:nvSpPr>
        <p:spPr>
          <a:xfrm>
            <a:off x="838200" y="1876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Roboto"/>
              <a:buNone/>
            </a:pPr>
            <a:r>
              <a:rPr b="0" i="0" lang="en-US">
                <a:solidFill>
                  <a:schemeClr val="lt1"/>
                </a:solidFill>
                <a:latin typeface="Roboto"/>
                <a:ea typeface="Roboto"/>
                <a:cs typeface="Roboto"/>
                <a:sym typeface="Roboto"/>
              </a:rPr>
              <a:t>Describe the solution you plan to explore</a:t>
            </a:r>
            <a:endParaRPr/>
          </a:p>
        </p:txBody>
      </p:sp>
      <p:sp>
        <p:nvSpPr>
          <p:cNvPr id="105" name="Google Shape;105;p4"/>
          <p:cNvSpPr txBox="1"/>
          <p:nvPr>
            <p:ph idx="1" type="body"/>
          </p:nvPr>
        </p:nvSpPr>
        <p:spPr>
          <a:xfrm>
            <a:off x="773650" y="1329651"/>
            <a:ext cx="10515600" cy="5305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89"/>
              <a:buFont typeface="Arial"/>
              <a:buNone/>
            </a:pPr>
            <a:r>
              <a:rPr lang="en-US" sz="2000">
                <a:solidFill>
                  <a:srgbClr val="FFFFFF"/>
                </a:solidFill>
                <a:latin typeface="Arial"/>
                <a:ea typeface="Arial"/>
                <a:cs typeface="Arial"/>
                <a:sym typeface="Arial"/>
              </a:rPr>
              <a:t>The proposed system will include:</a:t>
            </a:r>
            <a:endParaRPr sz="2000">
              <a:solidFill>
                <a:srgbClr val="FFFFFF"/>
              </a:solidFill>
              <a:latin typeface="Arial"/>
              <a:ea typeface="Arial"/>
              <a:cs typeface="Arial"/>
              <a:sym typeface="Arial"/>
            </a:endParaRPr>
          </a:p>
          <a:p>
            <a:pPr indent="-355600" lvl="0" marL="457200" rtl="0" algn="l">
              <a:lnSpc>
                <a:spcPct val="115000"/>
              </a:lnSpc>
              <a:spcBef>
                <a:spcPts val="1200"/>
              </a:spcBef>
              <a:spcAft>
                <a:spcPts val="0"/>
              </a:spcAft>
              <a:buClr>
                <a:srgbClr val="FFFFFF"/>
              </a:buClr>
              <a:buSzPts val="2000"/>
              <a:buChar char="●"/>
            </a:pPr>
            <a:r>
              <a:rPr lang="en-US" sz="2000">
                <a:solidFill>
                  <a:srgbClr val="FFFFFF"/>
                </a:solidFill>
                <a:latin typeface="Arial"/>
                <a:ea typeface="Arial"/>
                <a:cs typeface="Arial"/>
                <a:sym typeface="Arial"/>
              </a:rPr>
              <a:t>Web and mobile platforms for customers and salon owners.</a:t>
            </a:r>
            <a:br>
              <a:rPr lang="en-US" sz="2000">
                <a:solidFill>
                  <a:srgbClr val="FFFFFF"/>
                </a:solidFill>
                <a:latin typeface="Arial"/>
                <a:ea typeface="Arial"/>
                <a:cs typeface="Arial"/>
                <a:sym typeface="Arial"/>
              </a:rPr>
            </a:br>
            <a:endParaRPr sz="2000">
              <a:solidFill>
                <a:srgbClr val="FFFFFF"/>
              </a:solidFill>
              <a:latin typeface="Arial"/>
              <a:ea typeface="Arial"/>
              <a:cs typeface="Arial"/>
              <a:sym typeface="Arial"/>
            </a:endParaRPr>
          </a:p>
          <a:p>
            <a:pPr indent="-355600" lvl="0" marL="457200" rtl="0" algn="l">
              <a:lnSpc>
                <a:spcPct val="115000"/>
              </a:lnSpc>
              <a:spcBef>
                <a:spcPts val="0"/>
              </a:spcBef>
              <a:spcAft>
                <a:spcPts val="0"/>
              </a:spcAft>
              <a:buClr>
                <a:srgbClr val="FFFFFF"/>
              </a:buClr>
              <a:buSzPts val="2000"/>
              <a:buChar char="●"/>
            </a:pPr>
            <a:r>
              <a:rPr lang="en-US" sz="2000">
                <a:solidFill>
                  <a:srgbClr val="FFFFFF"/>
                </a:solidFill>
                <a:latin typeface="Arial"/>
                <a:ea typeface="Arial"/>
                <a:cs typeface="Arial"/>
                <a:sym typeface="Arial"/>
              </a:rPr>
              <a:t>Salon registration and management module.</a:t>
            </a:r>
            <a:br>
              <a:rPr lang="en-US" sz="2000">
                <a:solidFill>
                  <a:srgbClr val="FFFFFF"/>
                </a:solidFill>
                <a:latin typeface="Arial"/>
                <a:ea typeface="Arial"/>
                <a:cs typeface="Arial"/>
                <a:sym typeface="Arial"/>
              </a:rPr>
            </a:br>
            <a:endParaRPr sz="2000">
              <a:solidFill>
                <a:srgbClr val="FFFFFF"/>
              </a:solidFill>
              <a:latin typeface="Arial"/>
              <a:ea typeface="Arial"/>
              <a:cs typeface="Arial"/>
              <a:sym typeface="Arial"/>
            </a:endParaRPr>
          </a:p>
          <a:p>
            <a:pPr indent="-355600" lvl="0" marL="457200" rtl="0" algn="l">
              <a:lnSpc>
                <a:spcPct val="115000"/>
              </a:lnSpc>
              <a:spcBef>
                <a:spcPts val="0"/>
              </a:spcBef>
              <a:spcAft>
                <a:spcPts val="0"/>
              </a:spcAft>
              <a:buClr>
                <a:srgbClr val="FFFFFF"/>
              </a:buClr>
              <a:buSzPts val="2000"/>
              <a:buChar char="●"/>
            </a:pPr>
            <a:r>
              <a:rPr lang="en-US" sz="2000">
                <a:solidFill>
                  <a:srgbClr val="FFFFFF"/>
                </a:solidFill>
                <a:latin typeface="Arial"/>
                <a:ea typeface="Arial"/>
                <a:cs typeface="Arial"/>
                <a:sym typeface="Arial"/>
              </a:rPr>
              <a:t>Appointment scheduling for online booking.</a:t>
            </a:r>
            <a:br>
              <a:rPr lang="en-US" sz="2000">
                <a:solidFill>
                  <a:srgbClr val="FFFFFF"/>
                </a:solidFill>
                <a:latin typeface="Arial"/>
                <a:ea typeface="Arial"/>
                <a:cs typeface="Arial"/>
                <a:sym typeface="Arial"/>
              </a:rPr>
            </a:br>
            <a:endParaRPr sz="2000">
              <a:solidFill>
                <a:srgbClr val="FFFFFF"/>
              </a:solidFill>
              <a:latin typeface="Arial"/>
              <a:ea typeface="Arial"/>
              <a:cs typeface="Arial"/>
              <a:sym typeface="Arial"/>
            </a:endParaRPr>
          </a:p>
          <a:p>
            <a:pPr indent="-355600" lvl="0" marL="457200" rtl="0" algn="l">
              <a:lnSpc>
                <a:spcPct val="115000"/>
              </a:lnSpc>
              <a:spcBef>
                <a:spcPts val="0"/>
              </a:spcBef>
              <a:spcAft>
                <a:spcPts val="0"/>
              </a:spcAft>
              <a:buClr>
                <a:srgbClr val="FFFFFF"/>
              </a:buClr>
              <a:buSzPts val="2000"/>
              <a:buChar char="●"/>
            </a:pPr>
            <a:r>
              <a:rPr lang="en-US" sz="2000">
                <a:solidFill>
                  <a:srgbClr val="FFFFFF"/>
                </a:solidFill>
                <a:latin typeface="Arial"/>
                <a:ea typeface="Arial"/>
                <a:cs typeface="Arial"/>
                <a:sym typeface="Arial"/>
              </a:rPr>
              <a:t>Payment gateway integration for secure payments.</a:t>
            </a:r>
            <a:br>
              <a:rPr lang="en-US" sz="2000">
                <a:solidFill>
                  <a:srgbClr val="FFFFFF"/>
                </a:solidFill>
                <a:latin typeface="Arial"/>
                <a:ea typeface="Arial"/>
                <a:cs typeface="Arial"/>
                <a:sym typeface="Arial"/>
              </a:rPr>
            </a:br>
            <a:endParaRPr sz="2000">
              <a:solidFill>
                <a:srgbClr val="FFFFFF"/>
              </a:solidFill>
              <a:latin typeface="Arial"/>
              <a:ea typeface="Arial"/>
              <a:cs typeface="Arial"/>
              <a:sym typeface="Arial"/>
            </a:endParaRPr>
          </a:p>
          <a:p>
            <a:pPr indent="-355600" lvl="0" marL="457200" rtl="0" algn="l">
              <a:lnSpc>
                <a:spcPct val="115000"/>
              </a:lnSpc>
              <a:spcBef>
                <a:spcPts val="0"/>
              </a:spcBef>
              <a:spcAft>
                <a:spcPts val="0"/>
              </a:spcAft>
              <a:buClr>
                <a:srgbClr val="FFFFFF"/>
              </a:buClr>
              <a:buSzPts val="2000"/>
              <a:buChar char="●"/>
            </a:pPr>
            <a:r>
              <a:rPr lang="en-US" sz="2000">
                <a:solidFill>
                  <a:srgbClr val="FFFFFF"/>
                </a:solidFill>
                <a:latin typeface="Arial"/>
                <a:ea typeface="Arial"/>
                <a:cs typeface="Arial"/>
                <a:sym typeface="Arial"/>
              </a:rPr>
              <a:t>Review and rating system to ensure trust and feedback.</a:t>
            </a:r>
            <a:br>
              <a:rPr lang="en-US" sz="2000">
                <a:solidFill>
                  <a:srgbClr val="FFFFFF"/>
                </a:solidFill>
                <a:latin typeface="Arial"/>
                <a:ea typeface="Arial"/>
                <a:cs typeface="Arial"/>
                <a:sym typeface="Arial"/>
              </a:rPr>
            </a:br>
            <a:endParaRPr sz="2000">
              <a:solidFill>
                <a:srgbClr val="FFFFFF"/>
              </a:solidFill>
              <a:latin typeface="Arial"/>
              <a:ea typeface="Arial"/>
              <a:cs typeface="Arial"/>
              <a:sym typeface="Arial"/>
            </a:endParaRPr>
          </a:p>
          <a:p>
            <a:pPr indent="-355600" lvl="0" marL="457200" rtl="0" algn="l">
              <a:lnSpc>
                <a:spcPct val="115000"/>
              </a:lnSpc>
              <a:spcBef>
                <a:spcPts val="0"/>
              </a:spcBef>
              <a:spcAft>
                <a:spcPts val="0"/>
              </a:spcAft>
              <a:buClr>
                <a:srgbClr val="FFFFFF"/>
              </a:buClr>
              <a:buSzPts val="2000"/>
              <a:buChar char="●"/>
            </a:pPr>
            <a:r>
              <a:rPr lang="en-US" sz="2000">
                <a:solidFill>
                  <a:srgbClr val="FFFFFF"/>
                </a:solidFill>
                <a:latin typeface="Arial"/>
                <a:ea typeface="Arial"/>
                <a:cs typeface="Arial"/>
                <a:sym typeface="Arial"/>
              </a:rPr>
              <a:t>Admin panel for monitoring and analytics.</a:t>
            </a:r>
            <a:br>
              <a:rPr lang="en-US" sz="2000">
                <a:solidFill>
                  <a:srgbClr val="FFFFFF"/>
                </a:solidFill>
                <a:latin typeface="Arial"/>
                <a:ea typeface="Arial"/>
                <a:cs typeface="Arial"/>
                <a:sym typeface="Arial"/>
              </a:rPr>
            </a:br>
            <a:endParaRPr sz="2000">
              <a:solidFill>
                <a:srgbClr val="FFFFFF"/>
              </a:solidFill>
              <a:latin typeface="Arial"/>
              <a:ea typeface="Arial"/>
              <a:cs typeface="Arial"/>
              <a:sym typeface="Arial"/>
            </a:endParaRPr>
          </a:p>
          <a:p>
            <a:pPr indent="-355600" lvl="0" marL="457200" rtl="0" algn="l">
              <a:lnSpc>
                <a:spcPct val="115000"/>
              </a:lnSpc>
              <a:spcBef>
                <a:spcPts val="0"/>
              </a:spcBef>
              <a:spcAft>
                <a:spcPts val="0"/>
              </a:spcAft>
              <a:buClr>
                <a:srgbClr val="FFFFFF"/>
              </a:buClr>
              <a:buSzPts val="2000"/>
              <a:buChar char="●"/>
            </a:pPr>
            <a:r>
              <a:rPr lang="en-US" sz="2000">
                <a:solidFill>
                  <a:srgbClr val="FFFFFF"/>
                </a:solidFill>
                <a:latin typeface="Arial"/>
                <a:ea typeface="Arial"/>
                <a:cs typeface="Arial"/>
                <a:sym typeface="Arial"/>
              </a:rPr>
              <a:t>AI-based recommendation system for smart service suggestions.</a:t>
            </a:r>
            <a:endParaRPr sz="2000">
              <a:solidFill>
                <a:srgbClr val="FFFFFF"/>
              </a:solidFill>
              <a:latin typeface="Arial"/>
              <a:ea typeface="Arial"/>
              <a:cs typeface="Arial"/>
              <a:sym typeface="Arial"/>
            </a:endParaRPr>
          </a:p>
          <a:p>
            <a:pPr indent="-50800" lvl="0" marL="228600" rtl="0" algn="l">
              <a:lnSpc>
                <a:spcPct val="90000"/>
              </a:lnSpc>
              <a:spcBef>
                <a:spcPts val="1200"/>
              </a:spcBef>
              <a:spcAft>
                <a:spcPts val="0"/>
              </a:spcAft>
              <a:buClr>
                <a:schemeClr val="dk1"/>
              </a:buClr>
              <a:buSzPts val="3027"/>
              <a:buNone/>
            </a:pPr>
            <a:r>
              <a:t/>
            </a:r>
            <a:endParaRPr sz="20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B2444"/>
        </a:solidFill>
      </p:bgPr>
    </p:bg>
    <p:spTree>
      <p:nvGrpSpPr>
        <p:cNvPr id="109" name="Shape 109"/>
        <p:cNvGrpSpPr/>
        <p:nvPr/>
      </p:nvGrpSpPr>
      <p:grpSpPr>
        <a:xfrm>
          <a:off x="0" y="0"/>
          <a:ext cx="0" cy="0"/>
          <a:chOff x="0" y="0"/>
          <a:chExt cx="0" cy="0"/>
        </a:xfrm>
      </p:grpSpPr>
      <p:sp>
        <p:nvSpPr>
          <p:cNvPr id="110" name="Google Shape;11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Roboto"/>
              <a:buNone/>
            </a:pPr>
            <a:r>
              <a:rPr b="0" i="0" lang="en-US">
                <a:solidFill>
                  <a:schemeClr val="lt1"/>
                </a:solidFill>
                <a:latin typeface="Roboto"/>
                <a:ea typeface="Roboto"/>
                <a:cs typeface="Roboto"/>
                <a:sym typeface="Roboto"/>
              </a:rPr>
              <a:t>Expected results and product</a:t>
            </a:r>
            <a:endParaRPr/>
          </a:p>
        </p:txBody>
      </p:sp>
      <p:sp>
        <p:nvSpPr>
          <p:cNvPr id="111" name="Google Shape;111;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70000"/>
              </a:lnSpc>
              <a:spcBef>
                <a:spcPts val="1000"/>
              </a:spcBef>
              <a:spcAft>
                <a:spcPts val="0"/>
              </a:spcAft>
              <a:buClr>
                <a:schemeClr val="dk1"/>
              </a:buClr>
              <a:buSzPts val="1100"/>
              <a:buFont typeface="Arial"/>
              <a:buNone/>
            </a:pPr>
            <a:r>
              <a:rPr lang="en-US" sz="2000">
                <a:solidFill>
                  <a:srgbClr val="FFFFFF"/>
                </a:solidFill>
                <a:latin typeface="Arial"/>
                <a:ea typeface="Arial"/>
                <a:cs typeface="Arial"/>
                <a:sym typeface="Arial"/>
              </a:rPr>
              <a:t>Proposed Solution: Offers an intelligent, centralized salon booking system</a:t>
            </a:r>
            <a:endParaRPr sz="2000"/>
          </a:p>
          <a:p>
            <a:pPr indent="0" lvl="0" marL="0" rtl="0" algn="l">
              <a:lnSpc>
                <a:spcPct val="70000"/>
              </a:lnSpc>
              <a:spcBef>
                <a:spcPts val="1000"/>
              </a:spcBef>
              <a:spcAft>
                <a:spcPts val="0"/>
              </a:spcAft>
              <a:buClr>
                <a:schemeClr val="dk1"/>
              </a:buClr>
              <a:buSzPts val="1100"/>
              <a:buFont typeface="Arial"/>
              <a:buNone/>
            </a:pPr>
            <a:r>
              <a:rPr lang="en-US" sz="2000">
                <a:solidFill>
                  <a:srgbClr val="FFFFFF"/>
                </a:solidFill>
                <a:latin typeface="Arial"/>
                <a:ea typeface="Arial"/>
                <a:cs typeface="Arial"/>
                <a:sym typeface="Arial"/>
              </a:rPr>
              <a:t>where: </a:t>
            </a:r>
            <a:endParaRPr sz="2000"/>
          </a:p>
          <a:p>
            <a:pPr indent="0" lvl="0" marL="0" rtl="0" algn="l">
              <a:lnSpc>
                <a:spcPct val="70000"/>
              </a:lnSpc>
              <a:spcBef>
                <a:spcPts val="1000"/>
              </a:spcBef>
              <a:spcAft>
                <a:spcPts val="0"/>
              </a:spcAft>
              <a:buClr>
                <a:schemeClr val="dk1"/>
              </a:buClr>
              <a:buSzPts val="1100"/>
              <a:buFont typeface="Arial"/>
              <a:buNone/>
            </a:pPr>
            <a:r>
              <a:rPr lang="en-US" sz="2000">
                <a:solidFill>
                  <a:srgbClr val="FFFFFF"/>
                </a:solidFill>
                <a:latin typeface="Arial"/>
                <a:ea typeface="Arial"/>
                <a:cs typeface="Arial"/>
                <a:sym typeface="Arial"/>
              </a:rPr>
              <a:t>● Customers can find salons nearby, view services and prices, and book online.</a:t>
            </a:r>
            <a:endParaRPr sz="2000"/>
          </a:p>
          <a:p>
            <a:pPr indent="0" lvl="0" marL="0" rtl="0" algn="l">
              <a:lnSpc>
                <a:spcPct val="70000"/>
              </a:lnSpc>
              <a:spcBef>
                <a:spcPts val="1000"/>
              </a:spcBef>
              <a:spcAft>
                <a:spcPts val="0"/>
              </a:spcAft>
              <a:buClr>
                <a:schemeClr val="dk1"/>
              </a:buClr>
              <a:buSzPts val="1100"/>
              <a:buFont typeface="Arial"/>
              <a:buNone/>
            </a:pPr>
            <a:r>
              <a:rPr lang="en-US" sz="2000">
                <a:solidFill>
                  <a:srgbClr val="FFFFFF"/>
                </a:solidFill>
                <a:latin typeface="Arial"/>
                <a:ea typeface="Arial"/>
                <a:cs typeface="Arial"/>
                <a:sym typeface="Arial"/>
              </a:rPr>
              <a:t>● Salon owners can manage appointments, services, and clients through a  </a:t>
            </a:r>
            <a:endParaRPr sz="2000"/>
          </a:p>
          <a:p>
            <a:pPr indent="0" lvl="0" marL="0" rtl="0" algn="l">
              <a:lnSpc>
                <a:spcPct val="70000"/>
              </a:lnSpc>
              <a:spcBef>
                <a:spcPts val="1000"/>
              </a:spcBef>
              <a:spcAft>
                <a:spcPts val="0"/>
              </a:spcAft>
              <a:buClr>
                <a:schemeClr val="dk1"/>
              </a:buClr>
              <a:buSzPts val="1100"/>
              <a:buFont typeface="Arial"/>
              <a:buNone/>
            </a:pPr>
            <a:r>
              <a:rPr lang="en-US" sz="2000">
                <a:solidFill>
                  <a:srgbClr val="FFFFFF"/>
                </a:solidFill>
                <a:latin typeface="Arial"/>
                <a:ea typeface="Arial"/>
                <a:cs typeface="Arial"/>
                <a:sym typeface="Arial"/>
              </a:rPr>
              <a:t>   dashboard. </a:t>
            </a:r>
            <a:endParaRPr sz="2000"/>
          </a:p>
          <a:p>
            <a:pPr indent="0" lvl="0" marL="0" rtl="0" algn="l">
              <a:lnSpc>
                <a:spcPct val="70000"/>
              </a:lnSpc>
              <a:spcBef>
                <a:spcPts val="1000"/>
              </a:spcBef>
              <a:spcAft>
                <a:spcPts val="0"/>
              </a:spcAft>
              <a:buClr>
                <a:schemeClr val="dk1"/>
              </a:buClr>
              <a:buSzPts val="1100"/>
              <a:buFont typeface="Arial"/>
              <a:buNone/>
            </a:pPr>
            <a:r>
              <a:rPr lang="en-US" sz="2000">
                <a:solidFill>
                  <a:srgbClr val="FFFFFF"/>
                </a:solidFill>
                <a:latin typeface="Arial"/>
                <a:ea typeface="Arial"/>
                <a:cs typeface="Arial"/>
                <a:sym typeface="Arial"/>
              </a:rPr>
              <a:t>● Integrated payment gateways allow secure transactions. </a:t>
            </a:r>
            <a:endParaRPr sz="2000"/>
          </a:p>
          <a:p>
            <a:pPr indent="0" lvl="0" marL="0" rtl="0" algn="l">
              <a:lnSpc>
                <a:spcPct val="70000"/>
              </a:lnSpc>
              <a:spcBef>
                <a:spcPts val="1000"/>
              </a:spcBef>
              <a:spcAft>
                <a:spcPts val="0"/>
              </a:spcAft>
              <a:buClr>
                <a:schemeClr val="dk1"/>
              </a:buClr>
              <a:buSzPts val="1100"/>
              <a:buFont typeface="Arial"/>
              <a:buNone/>
            </a:pPr>
            <a:r>
              <a:rPr lang="en-US" sz="2000">
                <a:solidFill>
                  <a:srgbClr val="FFFFFF"/>
                </a:solidFill>
                <a:latin typeface="Arial"/>
                <a:ea typeface="Arial"/>
                <a:cs typeface="Arial"/>
                <a:sym typeface="Arial"/>
              </a:rPr>
              <a:t>● Reviews and ratings help maintain transparency and service quality.</a:t>
            </a:r>
            <a:br>
              <a:rPr lang="en-US" sz="2000">
                <a:solidFill>
                  <a:srgbClr val="FFFFFF"/>
                </a:solidFill>
                <a:latin typeface="Arial"/>
                <a:ea typeface="Arial"/>
                <a:cs typeface="Arial"/>
                <a:sym typeface="Arial"/>
              </a:rPr>
            </a:br>
            <a:endParaRPr sz="2000">
              <a:solidFill>
                <a:srgbClr val="FFFFFF"/>
              </a:solidFill>
              <a:latin typeface="Arial"/>
              <a:ea typeface="Arial"/>
              <a:cs typeface="Arial"/>
              <a:sym typeface="Arial"/>
            </a:endParaRPr>
          </a:p>
          <a:p>
            <a:pPr indent="0" lvl="0" marL="0" rtl="0" algn="l">
              <a:lnSpc>
                <a:spcPct val="70000"/>
              </a:lnSpc>
              <a:spcBef>
                <a:spcPts val="1000"/>
              </a:spcBef>
              <a:spcAft>
                <a:spcPts val="0"/>
              </a:spcAft>
              <a:buClr>
                <a:schemeClr val="dk1"/>
              </a:buClr>
              <a:buSzPts val="1100"/>
              <a:buFont typeface="Arial"/>
              <a:buNone/>
            </a:pPr>
            <a:r>
              <a:rPr lang="en-US" sz="2000">
                <a:solidFill>
                  <a:schemeClr val="lt1"/>
                </a:solidFill>
              </a:rPr>
              <a:t>Prod</a:t>
            </a:r>
            <a:r>
              <a:rPr lang="en-US" sz="2000">
                <a:solidFill>
                  <a:schemeClr val="lt1"/>
                </a:solidFill>
              </a:rPr>
              <a:t>uct:</a:t>
            </a:r>
            <a:endParaRPr sz="2000"/>
          </a:p>
          <a:p>
            <a:pPr indent="0" lvl="0" marL="114300" rtl="0" algn="l">
              <a:lnSpc>
                <a:spcPct val="90000"/>
              </a:lnSpc>
              <a:spcBef>
                <a:spcPts val="1000"/>
              </a:spcBef>
              <a:spcAft>
                <a:spcPts val="0"/>
              </a:spcAft>
              <a:buSzPts val="1800"/>
              <a:buNone/>
            </a:pPr>
            <a:r>
              <a:rPr lang="en-US" sz="2000">
                <a:solidFill>
                  <a:srgbClr val="FFFFFF"/>
                </a:solidFill>
                <a:latin typeface="Arial"/>
                <a:ea typeface="Arial"/>
                <a:cs typeface="Arial"/>
                <a:sym typeface="Arial"/>
              </a:rPr>
              <a:t>● </a:t>
            </a:r>
            <a:r>
              <a:rPr lang="en-US" sz="2000">
                <a:solidFill>
                  <a:schemeClr val="lt1"/>
                </a:solidFill>
              </a:rPr>
              <a:t>Web &amp;</a:t>
            </a:r>
            <a:r>
              <a:rPr lang="en-US" sz="2000">
                <a:solidFill>
                  <a:srgbClr val="FFFFFF"/>
                </a:solidFill>
                <a:latin typeface="Arial"/>
                <a:ea typeface="Arial"/>
                <a:cs typeface="Arial"/>
                <a:sym typeface="Arial"/>
              </a:rPr>
              <a:t> </a:t>
            </a:r>
            <a:r>
              <a:rPr lang="en-US" sz="2000">
                <a:solidFill>
                  <a:schemeClr val="lt1"/>
                </a:solidFill>
              </a:rPr>
              <a:t>mobile platforms with user-friendly interface and AI-based features.</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B2444"/>
        </a:solidFill>
      </p:bgPr>
    </p:bg>
    <p:spTree>
      <p:nvGrpSpPr>
        <p:cNvPr id="115" name="Shape 115"/>
        <p:cNvGrpSpPr/>
        <p:nvPr/>
      </p:nvGrpSpPr>
      <p:grpSpPr>
        <a:xfrm>
          <a:off x="0" y="0"/>
          <a:ext cx="0" cy="0"/>
          <a:chOff x="0" y="0"/>
          <a:chExt cx="0" cy="0"/>
        </a:xfrm>
      </p:grpSpPr>
      <p:sp>
        <p:nvSpPr>
          <p:cNvPr id="116" name="Google Shape;116;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Roboto"/>
              <a:buNone/>
            </a:pPr>
            <a:r>
              <a:rPr lang="en-US">
                <a:solidFill>
                  <a:schemeClr val="lt1"/>
                </a:solidFill>
                <a:latin typeface="Roboto"/>
                <a:ea typeface="Roboto"/>
                <a:cs typeface="Roboto"/>
                <a:sym typeface="Roboto"/>
              </a:rPr>
              <a:t>Functional Requirements</a:t>
            </a:r>
            <a:endParaRPr b="0" i="0">
              <a:solidFill>
                <a:schemeClr val="lt1"/>
              </a:solidFill>
              <a:latin typeface="Roboto"/>
              <a:ea typeface="Roboto"/>
              <a:cs typeface="Roboto"/>
              <a:sym typeface="Roboto"/>
            </a:endParaRPr>
          </a:p>
        </p:txBody>
      </p:sp>
      <p:sp>
        <p:nvSpPr>
          <p:cNvPr id="117" name="Google Shape;117;p6"/>
          <p:cNvSpPr txBox="1"/>
          <p:nvPr>
            <p:ph idx="1" type="body"/>
          </p:nvPr>
        </p:nvSpPr>
        <p:spPr>
          <a:xfrm>
            <a:off x="838200" y="1619975"/>
            <a:ext cx="10515600" cy="455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600"/>
              </a:spcBef>
              <a:spcAft>
                <a:spcPts val="0"/>
              </a:spcAft>
              <a:buClr>
                <a:schemeClr val="dk1"/>
              </a:buClr>
              <a:buSzPts val="1100"/>
              <a:buNone/>
            </a:pPr>
            <a:r>
              <a:rPr lang="en-US" sz="2000">
                <a:solidFill>
                  <a:srgbClr val="FFFFFF"/>
                </a:solidFill>
                <a:latin typeface="Times New Roman"/>
                <a:ea typeface="Times New Roman"/>
                <a:cs typeface="Times New Roman"/>
                <a:sym typeface="Times New Roman"/>
              </a:rPr>
              <a:t>FR-01: </a:t>
            </a:r>
            <a:r>
              <a:rPr lang="en-US" sz="2000">
                <a:solidFill>
                  <a:schemeClr val="lt1"/>
                </a:solidFill>
              </a:rPr>
              <a:t>User Registration &amp; Authentication for salon owners and customers.</a:t>
            </a:r>
            <a:endParaRPr sz="2000">
              <a:solidFill>
                <a:schemeClr val="lt1"/>
              </a:solidFill>
            </a:endParaRPr>
          </a:p>
          <a:p>
            <a:pPr indent="0" lvl="0" marL="0" rtl="0" algn="l">
              <a:lnSpc>
                <a:spcPct val="100000"/>
              </a:lnSpc>
              <a:spcBef>
                <a:spcPts val="600"/>
              </a:spcBef>
              <a:spcAft>
                <a:spcPts val="0"/>
              </a:spcAft>
              <a:buClr>
                <a:schemeClr val="dk1"/>
              </a:buClr>
              <a:buSzPts val="1100"/>
              <a:buNone/>
            </a:pPr>
            <a:br>
              <a:rPr lang="en-US" sz="2000">
                <a:solidFill>
                  <a:schemeClr val="lt1"/>
                </a:solidFill>
              </a:rPr>
            </a:br>
            <a:r>
              <a:rPr lang="en-US" sz="2000">
                <a:solidFill>
                  <a:srgbClr val="FFFFFF"/>
                </a:solidFill>
                <a:latin typeface="Times New Roman"/>
                <a:ea typeface="Times New Roman"/>
                <a:cs typeface="Times New Roman"/>
                <a:sym typeface="Times New Roman"/>
              </a:rPr>
              <a:t>FR-02: </a:t>
            </a:r>
            <a:r>
              <a:rPr lang="en-US" sz="2000">
                <a:solidFill>
                  <a:schemeClr val="lt1"/>
                </a:solidFill>
              </a:rPr>
              <a:t>Salon Profile Management: Add, edit, and delete services.</a:t>
            </a:r>
            <a:endParaRPr sz="2000">
              <a:solidFill>
                <a:schemeClr val="lt1"/>
              </a:solidFill>
            </a:endParaRPr>
          </a:p>
          <a:p>
            <a:pPr indent="0" lvl="0" marL="0" rtl="0" algn="l">
              <a:lnSpc>
                <a:spcPct val="100000"/>
              </a:lnSpc>
              <a:spcBef>
                <a:spcPts val="600"/>
              </a:spcBef>
              <a:spcAft>
                <a:spcPts val="0"/>
              </a:spcAft>
              <a:buClr>
                <a:schemeClr val="dk1"/>
              </a:buClr>
              <a:buSzPts val="1100"/>
              <a:buNone/>
            </a:pPr>
            <a:br>
              <a:rPr lang="en-US" sz="2000">
                <a:solidFill>
                  <a:schemeClr val="lt1"/>
                </a:solidFill>
              </a:rPr>
            </a:br>
            <a:r>
              <a:rPr lang="en-US" sz="2000">
                <a:solidFill>
                  <a:schemeClr val="lt1"/>
                </a:solidFill>
                <a:latin typeface="Times New Roman"/>
                <a:ea typeface="Times New Roman"/>
                <a:cs typeface="Times New Roman"/>
                <a:sym typeface="Times New Roman"/>
              </a:rPr>
              <a:t>FR-03</a:t>
            </a:r>
            <a:r>
              <a:rPr lang="en-US" sz="2000">
                <a:solidFill>
                  <a:srgbClr val="FFFFFF"/>
                </a:solidFill>
                <a:latin typeface="Times New Roman"/>
                <a:ea typeface="Times New Roman"/>
                <a:cs typeface="Times New Roman"/>
                <a:sym typeface="Times New Roman"/>
              </a:rPr>
              <a:t>: </a:t>
            </a:r>
            <a:r>
              <a:rPr lang="en-US" sz="2000">
                <a:solidFill>
                  <a:schemeClr val="lt1"/>
                </a:solidFill>
              </a:rPr>
              <a:t>AI-Based Salon &amp; Service Recommendations based on user preferences.</a:t>
            </a:r>
            <a:endParaRPr sz="2000">
              <a:solidFill>
                <a:schemeClr val="lt1"/>
              </a:solidFill>
            </a:endParaRPr>
          </a:p>
          <a:p>
            <a:pPr indent="0" lvl="0" marL="0" rtl="0" algn="l">
              <a:lnSpc>
                <a:spcPct val="100000"/>
              </a:lnSpc>
              <a:spcBef>
                <a:spcPts val="600"/>
              </a:spcBef>
              <a:spcAft>
                <a:spcPts val="0"/>
              </a:spcAft>
              <a:buClr>
                <a:schemeClr val="dk1"/>
              </a:buClr>
              <a:buSzPts val="1100"/>
              <a:buNone/>
            </a:pPr>
            <a:br>
              <a:rPr lang="en-US" sz="2000">
                <a:solidFill>
                  <a:schemeClr val="lt1"/>
                </a:solidFill>
              </a:rPr>
            </a:br>
            <a:r>
              <a:rPr lang="en-US" sz="2000">
                <a:solidFill>
                  <a:schemeClr val="lt1"/>
                </a:solidFill>
                <a:latin typeface="Times New Roman"/>
                <a:ea typeface="Times New Roman"/>
                <a:cs typeface="Times New Roman"/>
                <a:sym typeface="Times New Roman"/>
              </a:rPr>
              <a:t>FR-04: </a:t>
            </a:r>
            <a:r>
              <a:rPr lang="en-US" sz="2000">
                <a:solidFill>
                  <a:schemeClr val="lt1"/>
                </a:solidFill>
              </a:rPr>
              <a:t>Online Appointment Booking with time-slot availability checks.</a:t>
            </a:r>
            <a:endParaRPr sz="2000">
              <a:solidFill>
                <a:schemeClr val="lt1"/>
              </a:solidFill>
            </a:endParaRPr>
          </a:p>
          <a:p>
            <a:pPr indent="0" lvl="0" marL="0" rtl="0" algn="l">
              <a:lnSpc>
                <a:spcPct val="100000"/>
              </a:lnSpc>
              <a:spcBef>
                <a:spcPts val="600"/>
              </a:spcBef>
              <a:spcAft>
                <a:spcPts val="0"/>
              </a:spcAft>
              <a:buClr>
                <a:schemeClr val="dk1"/>
              </a:buClr>
              <a:buSzPts val="1100"/>
              <a:buNone/>
            </a:pPr>
            <a:br>
              <a:rPr lang="en-US" sz="2000">
                <a:solidFill>
                  <a:schemeClr val="lt1"/>
                </a:solidFill>
              </a:rPr>
            </a:br>
            <a:r>
              <a:rPr lang="en-US" sz="2000">
                <a:solidFill>
                  <a:schemeClr val="lt1"/>
                </a:solidFill>
                <a:latin typeface="Times New Roman"/>
                <a:ea typeface="Times New Roman"/>
                <a:cs typeface="Times New Roman"/>
                <a:sym typeface="Times New Roman"/>
              </a:rPr>
              <a:t>FR05: </a:t>
            </a:r>
            <a:r>
              <a:rPr lang="en-US" sz="2000">
                <a:solidFill>
                  <a:schemeClr val="lt1"/>
                </a:solidFill>
              </a:rPr>
              <a:t>Payment Gateway Integration for secure online payments.</a:t>
            </a:r>
            <a:endParaRPr sz="2000">
              <a:solidFill>
                <a:schemeClr val="lt1"/>
              </a:solidFill>
            </a:endParaRPr>
          </a:p>
          <a:p>
            <a:pPr indent="0" lvl="0" marL="0" rtl="0" algn="l">
              <a:lnSpc>
                <a:spcPct val="100000"/>
              </a:lnSpc>
              <a:spcBef>
                <a:spcPts val="600"/>
              </a:spcBef>
              <a:spcAft>
                <a:spcPts val="0"/>
              </a:spcAft>
              <a:buClr>
                <a:schemeClr val="dk1"/>
              </a:buClr>
              <a:buSzPts val="1100"/>
              <a:buNone/>
            </a:pPr>
            <a:br>
              <a:rPr lang="en-US" sz="2000">
                <a:solidFill>
                  <a:schemeClr val="lt1"/>
                </a:solidFill>
              </a:rPr>
            </a:br>
            <a:r>
              <a:rPr lang="en-US" sz="2000">
                <a:solidFill>
                  <a:schemeClr val="lt1"/>
                </a:solidFill>
                <a:latin typeface="Times New Roman"/>
                <a:ea typeface="Times New Roman"/>
                <a:cs typeface="Times New Roman"/>
                <a:sym typeface="Times New Roman"/>
              </a:rPr>
              <a:t>FR06: </a:t>
            </a:r>
            <a:r>
              <a:rPr lang="en-US" sz="2000">
                <a:solidFill>
                  <a:schemeClr val="lt1"/>
                </a:solidFill>
              </a:rPr>
              <a:t>Review &amp; Rating System for customers to provide feedback</a:t>
            </a:r>
            <a:r>
              <a:rPr lang="en-US" sz="2000"/>
              <a:t>.</a:t>
            </a:r>
            <a:endParaRPr sz="2000"/>
          </a:p>
          <a:p>
            <a:pPr indent="0" lvl="0" marL="0" rtl="0" algn="l">
              <a:lnSpc>
                <a:spcPct val="100000"/>
              </a:lnSpc>
              <a:spcBef>
                <a:spcPts val="600"/>
              </a:spcBef>
              <a:spcAft>
                <a:spcPts val="0"/>
              </a:spcAft>
              <a:buClr>
                <a:schemeClr val="dk1"/>
              </a:buClr>
              <a:buSzPts val="1100"/>
              <a:buNone/>
            </a:pPr>
            <a:br>
              <a:rPr lang="en-US" sz="2000"/>
            </a:br>
            <a:r>
              <a:rPr lang="en-US" sz="2000">
                <a:solidFill>
                  <a:schemeClr val="lt1"/>
                </a:solidFill>
                <a:latin typeface="Times New Roman"/>
                <a:ea typeface="Times New Roman"/>
                <a:cs typeface="Times New Roman"/>
                <a:sym typeface="Times New Roman"/>
              </a:rPr>
              <a:t>FR07: </a:t>
            </a:r>
            <a:r>
              <a:rPr lang="en-US" sz="2000">
                <a:solidFill>
                  <a:schemeClr val="lt1"/>
                </a:solidFill>
              </a:rPr>
              <a:t>Admin Dashboard to manage users and salon operations.</a:t>
            </a:r>
            <a:endParaRPr sz="2000">
              <a:solidFill>
                <a:schemeClr val="lt1"/>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None/>
            </a:pPr>
            <a:r>
              <a:t/>
            </a:r>
            <a:endParaRPr sz="2000">
              <a:solidFill>
                <a:srgbClr val="FFFFFF"/>
              </a:solidFill>
              <a:latin typeface="Times New Roman"/>
              <a:ea typeface="Times New Roman"/>
              <a:cs typeface="Times New Roman"/>
              <a:sym typeface="Times New Roman"/>
            </a:endParaRPr>
          </a:p>
          <a:p>
            <a:pPr indent="0" lvl="0" marL="0" rtl="0" algn="l">
              <a:lnSpc>
                <a:spcPct val="100000"/>
              </a:lnSpc>
              <a:spcBef>
                <a:spcPts val="1200"/>
              </a:spcBef>
              <a:spcAft>
                <a:spcPts val="1200"/>
              </a:spcAft>
              <a:buClr>
                <a:schemeClr val="dk1"/>
              </a:buClr>
              <a:buSzPts val="1100"/>
              <a:buFont typeface="Arial"/>
              <a:buNone/>
            </a:pPr>
            <a:r>
              <a:t/>
            </a:r>
            <a:endParaRPr sz="2000">
              <a:solidFill>
                <a:srgbClr val="FFFFFF"/>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B2444"/>
        </a:solidFill>
      </p:bgPr>
    </p:bg>
    <p:spTree>
      <p:nvGrpSpPr>
        <p:cNvPr id="121" name="Shape 121"/>
        <p:cNvGrpSpPr/>
        <p:nvPr/>
      </p:nvGrpSpPr>
      <p:grpSpPr>
        <a:xfrm>
          <a:off x="0" y="0"/>
          <a:ext cx="0" cy="0"/>
          <a:chOff x="0" y="0"/>
          <a:chExt cx="0" cy="0"/>
        </a:xfrm>
      </p:grpSpPr>
      <p:sp>
        <p:nvSpPr>
          <p:cNvPr id="122" name="Google Shape;122;g3a440938552_0_1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Roboto"/>
              <a:buNone/>
            </a:pPr>
            <a:r>
              <a:rPr lang="en-US">
                <a:solidFill>
                  <a:schemeClr val="lt1"/>
                </a:solidFill>
                <a:latin typeface="Roboto"/>
                <a:ea typeface="Roboto"/>
                <a:cs typeface="Roboto"/>
                <a:sym typeface="Roboto"/>
              </a:rPr>
              <a:t>Non-Functional Requirements</a:t>
            </a:r>
            <a:endParaRPr b="0" i="0">
              <a:solidFill>
                <a:schemeClr val="lt1"/>
              </a:solidFill>
              <a:latin typeface="Roboto"/>
              <a:ea typeface="Roboto"/>
              <a:cs typeface="Roboto"/>
              <a:sym typeface="Roboto"/>
            </a:endParaRPr>
          </a:p>
        </p:txBody>
      </p:sp>
      <p:sp>
        <p:nvSpPr>
          <p:cNvPr id="123" name="Google Shape;123;g3a440938552_0_13"/>
          <p:cNvSpPr txBox="1"/>
          <p:nvPr>
            <p:ph idx="1" type="body"/>
          </p:nvPr>
        </p:nvSpPr>
        <p:spPr>
          <a:xfrm>
            <a:off x="838200" y="1469450"/>
            <a:ext cx="10515600" cy="50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600"/>
              </a:spcBef>
              <a:spcAft>
                <a:spcPts val="0"/>
              </a:spcAft>
              <a:buSzPts val="1100"/>
              <a:buNone/>
            </a:pPr>
            <a:r>
              <a:rPr lang="en-US" sz="2000">
                <a:solidFill>
                  <a:schemeClr val="lt1"/>
                </a:solidFill>
                <a:latin typeface="Times New Roman"/>
                <a:ea typeface="Times New Roman"/>
                <a:cs typeface="Times New Roman"/>
                <a:sym typeface="Times New Roman"/>
              </a:rPr>
              <a:t>NFR-01: Performance : The app should load pages and process bookings quickly. </a:t>
            </a:r>
            <a:endParaRPr sz="2000">
              <a:solidFill>
                <a:schemeClr val="lt1"/>
              </a:solidFill>
              <a:latin typeface="Times New Roman"/>
              <a:ea typeface="Times New Roman"/>
              <a:cs typeface="Times New Roman"/>
              <a:sym typeface="Times New Roman"/>
            </a:endParaRPr>
          </a:p>
          <a:p>
            <a:pPr indent="0" lvl="0" marL="0" rtl="0" algn="l">
              <a:lnSpc>
                <a:spcPct val="100000"/>
              </a:lnSpc>
              <a:spcBef>
                <a:spcPts val="600"/>
              </a:spcBef>
              <a:spcAft>
                <a:spcPts val="0"/>
              </a:spcAft>
              <a:buSzPts val="1100"/>
              <a:buNone/>
            </a:pPr>
            <a:r>
              <a:t/>
            </a:r>
            <a:endParaRPr sz="2000">
              <a:solidFill>
                <a:schemeClr val="lt1"/>
              </a:solidFill>
              <a:latin typeface="Times New Roman"/>
              <a:ea typeface="Times New Roman"/>
              <a:cs typeface="Times New Roman"/>
              <a:sym typeface="Times New Roman"/>
            </a:endParaRPr>
          </a:p>
          <a:p>
            <a:pPr indent="0" lvl="0" marL="0" rtl="0" algn="l">
              <a:lnSpc>
                <a:spcPct val="100000"/>
              </a:lnSpc>
              <a:spcBef>
                <a:spcPts val="600"/>
              </a:spcBef>
              <a:spcAft>
                <a:spcPts val="0"/>
              </a:spcAft>
              <a:buSzPts val="1100"/>
              <a:buNone/>
            </a:pPr>
            <a:r>
              <a:rPr lang="en-US" sz="2000">
                <a:solidFill>
                  <a:schemeClr val="lt1"/>
                </a:solidFill>
                <a:latin typeface="Times New Roman"/>
                <a:ea typeface="Times New Roman"/>
                <a:cs typeface="Times New Roman"/>
                <a:sym typeface="Times New Roman"/>
              </a:rPr>
              <a:t>NFR-02: Usability : Simple and intuitive interface for easy navigation. </a:t>
            </a:r>
            <a:endParaRPr sz="2000">
              <a:solidFill>
                <a:schemeClr val="lt1"/>
              </a:solidFill>
              <a:latin typeface="Times New Roman"/>
              <a:ea typeface="Times New Roman"/>
              <a:cs typeface="Times New Roman"/>
              <a:sym typeface="Times New Roman"/>
            </a:endParaRPr>
          </a:p>
          <a:p>
            <a:pPr indent="0" lvl="0" marL="0" rtl="0" algn="l">
              <a:lnSpc>
                <a:spcPct val="100000"/>
              </a:lnSpc>
              <a:spcBef>
                <a:spcPts val="600"/>
              </a:spcBef>
              <a:spcAft>
                <a:spcPts val="0"/>
              </a:spcAft>
              <a:buSzPts val="1100"/>
              <a:buNone/>
            </a:pPr>
            <a:r>
              <a:t/>
            </a:r>
            <a:endParaRPr sz="2000">
              <a:solidFill>
                <a:schemeClr val="lt1"/>
              </a:solidFill>
              <a:latin typeface="Times New Roman"/>
              <a:ea typeface="Times New Roman"/>
              <a:cs typeface="Times New Roman"/>
              <a:sym typeface="Times New Roman"/>
            </a:endParaRPr>
          </a:p>
          <a:p>
            <a:pPr indent="0" lvl="0" marL="0" rtl="0" algn="l">
              <a:lnSpc>
                <a:spcPct val="100000"/>
              </a:lnSpc>
              <a:spcBef>
                <a:spcPts val="600"/>
              </a:spcBef>
              <a:spcAft>
                <a:spcPts val="0"/>
              </a:spcAft>
              <a:buSzPts val="1100"/>
              <a:buNone/>
            </a:pPr>
            <a:r>
              <a:rPr lang="en-US" sz="2000">
                <a:solidFill>
                  <a:schemeClr val="lt1"/>
                </a:solidFill>
                <a:latin typeface="Times New Roman"/>
                <a:ea typeface="Times New Roman"/>
                <a:cs typeface="Times New Roman"/>
                <a:sym typeface="Times New Roman"/>
              </a:rPr>
              <a:t>NFR-03: Security : Protect user data and ensure secure transactions. </a:t>
            </a:r>
            <a:endParaRPr sz="2000">
              <a:solidFill>
                <a:schemeClr val="lt1"/>
              </a:solidFill>
              <a:latin typeface="Times New Roman"/>
              <a:ea typeface="Times New Roman"/>
              <a:cs typeface="Times New Roman"/>
              <a:sym typeface="Times New Roman"/>
            </a:endParaRPr>
          </a:p>
          <a:p>
            <a:pPr indent="0" lvl="0" marL="0" rtl="0" algn="l">
              <a:lnSpc>
                <a:spcPct val="100000"/>
              </a:lnSpc>
              <a:spcBef>
                <a:spcPts val="600"/>
              </a:spcBef>
              <a:spcAft>
                <a:spcPts val="0"/>
              </a:spcAft>
              <a:buSzPts val="1100"/>
              <a:buNone/>
            </a:pPr>
            <a:r>
              <a:t/>
            </a:r>
            <a:endParaRPr sz="2000">
              <a:solidFill>
                <a:schemeClr val="lt1"/>
              </a:solidFill>
              <a:latin typeface="Times New Roman"/>
              <a:ea typeface="Times New Roman"/>
              <a:cs typeface="Times New Roman"/>
              <a:sym typeface="Times New Roman"/>
            </a:endParaRPr>
          </a:p>
          <a:p>
            <a:pPr indent="0" lvl="0" marL="0" rtl="0" algn="l">
              <a:lnSpc>
                <a:spcPct val="100000"/>
              </a:lnSpc>
              <a:spcBef>
                <a:spcPts val="600"/>
              </a:spcBef>
              <a:spcAft>
                <a:spcPts val="0"/>
              </a:spcAft>
              <a:buSzPts val="1100"/>
              <a:buNone/>
            </a:pPr>
            <a:r>
              <a:rPr lang="en-US" sz="2000">
                <a:solidFill>
                  <a:schemeClr val="lt1"/>
                </a:solidFill>
                <a:latin typeface="Times New Roman"/>
                <a:ea typeface="Times New Roman"/>
                <a:cs typeface="Times New Roman"/>
                <a:sym typeface="Times New Roman"/>
              </a:rPr>
              <a:t>NFR-04: Reliability : System should be available and functional 24/7. </a:t>
            </a:r>
            <a:endParaRPr sz="2000">
              <a:solidFill>
                <a:schemeClr val="lt1"/>
              </a:solidFill>
              <a:latin typeface="Times New Roman"/>
              <a:ea typeface="Times New Roman"/>
              <a:cs typeface="Times New Roman"/>
              <a:sym typeface="Times New Roman"/>
            </a:endParaRPr>
          </a:p>
          <a:p>
            <a:pPr indent="0" lvl="0" marL="0" rtl="0" algn="l">
              <a:lnSpc>
                <a:spcPct val="100000"/>
              </a:lnSpc>
              <a:spcBef>
                <a:spcPts val="600"/>
              </a:spcBef>
              <a:spcAft>
                <a:spcPts val="0"/>
              </a:spcAft>
              <a:buSzPts val="1100"/>
              <a:buNone/>
            </a:pPr>
            <a:r>
              <a:t/>
            </a:r>
            <a:endParaRPr sz="2000">
              <a:solidFill>
                <a:schemeClr val="lt1"/>
              </a:solidFill>
              <a:latin typeface="Times New Roman"/>
              <a:ea typeface="Times New Roman"/>
              <a:cs typeface="Times New Roman"/>
              <a:sym typeface="Times New Roman"/>
            </a:endParaRPr>
          </a:p>
          <a:p>
            <a:pPr indent="0" lvl="0" marL="0" rtl="0" algn="l">
              <a:lnSpc>
                <a:spcPct val="100000"/>
              </a:lnSpc>
              <a:spcBef>
                <a:spcPts val="600"/>
              </a:spcBef>
              <a:spcAft>
                <a:spcPts val="0"/>
              </a:spcAft>
              <a:buSzPts val="1100"/>
              <a:buNone/>
            </a:pPr>
            <a:r>
              <a:rPr lang="en-US" sz="2000">
                <a:solidFill>
                  <a:schemeClr val="lt1"/>
                </a:solidFill>
                <a:latin typeface="Times New Roman"/>
                <a:ea typeface="Times New Roman"/>
                <a:cs typeface="Times New Roman"/>
                <a:sym typeface="Times New Roman"/>
              </a:rPr>
              <a:t>NFR-05: Scalability : The platform should handle growing numbers of users and barber shops.</a:t>
            </a:r>
            <a:endParaRPr sz="2000">
              <a:solidFill>
                <a:schemeClr val="lt1"/>
              </a:solidFill>
              <a:latin typeface="Times New Roman"/>
              <a:ea typeface="Times New Roman"/>
              <a:cs typeface="Times New Roman"/>
              <a:sym typeface="Times New Roman"/>
            </a:endParaRPr>
          </a:p>
          <a:p>
            <a:pPr indent="0" lvl="0" marL="0" rtl="0" algn="l">
              <a:lnSpc>
                <a:spcPct val="100000"/>
              </a:lnSpc>
              <a:spcBef>
                <a:spcPts val="600"/>
              </a:spcBef>
              <a:spcAft>
                <a:spcPts val="0"/>
              </a:spcAft>
              <a:buSzPts val="1100"/>
              <a:buNone/>
            </a:pPr>
            <a:r>
              <a:t/>
            </a:r>
            <a:endParaRPr sz="2000">
              <a:solidFill>
                <a:schemeClr val="lt1"/>
              </a:solidFill>
              <a:latin typeface="Times New Roman"/>
              <a:ea typeface="Times New Roman"/>
              <a:cs typeface="Times New Roman"/>
              <a:sym typeface="Times New Roman"/>
            </a:endParaRPr>
          </a:p>
          <a:p>
            <a:pPr indent="0" lvl="0" marL="0" rtl="0" algn="l">
              <a:lnSpc>
                <a:spcPct val="100000"/>
              </a:lnSpc>
              <a:spcBef>
                <a:spcPts val="600"/>
              </a:spcBef>
              <a:spcAft>
                <a:spcPts val="0"/>
              </a:spcAft>
              <a:buSzPts val="1100"/>
              <a:buNone/>
            </a:pPr>
            <a:r>
              <a:rPr lang="en-US" sz="2000">
                <a:solidFill>
                  <a:schemeClr val="lt1"/>
                </a:solidFill>
                <a:latin typeface="Times New Roman"/>
                <a:ea typeface="Times New Roman"/>
                <a:cs typeface="Times New Roman"/>
                <a:sym typeface="Times New Roman"/>
              </a:rPr>
              <a:t>NFR-06: Compatibility : App should work on multiple devices (Android/iOS).</a:t>
            </a:r>
            <a:endParaRPr sz="2000">
              <a:solidFill>
                <a:schemeClr val="lt1"/>
              </a:solidFill>
              <a:latin typeface="Times New Roman"/>
              <a:ea typeface="Times New Roman"/>
              <a:cs typeface="Times New Roman"/>
              <a:sym typeface="Times New Roman"/>
            </a:endParaRPr>
          </a:p>
          <a:p>
            <a:pPr indent="0" lvl="0" marL="0" rtl="0" algn="l">
              <a:lnSpc>
                <a:spcPct val="100000"/>
              </a:lnSpc>
              <a:spcBef>
                <a:spcPts val="600"/>
              </a:spcBef>
              <a:spcAft>
                <a:spcPts val="0"/>
              </a:spcAft>
              <a:buSzPts val="1100"/>
              <a:buNone/>
            </a:pPr>
            <a:r>
              <a:t/>
            </a:r>
            <a:endParaRPr sz="2000">
              <a:solidFill>
                <a:schemeClr val="lt1"/>
              </a:solidFill>
              <a:latin typeface="Times New Roman"/>
              <a:ea typeface="Times New Roman"/>
              <a:cs typeface="Times New Roman"/>
              <a:sym typeface="Times New Roman"/>
            </a:endParaRPr>
          </a:p>
          <a:p>
            <a:pPr indent="0" lvl="0" marL="0" rtl="0" algn="l">
              <a:lnSpc>
                <a:spcPct val="100000"/>
              </a:lnSpc>
              <a:spcBef>
                <a:spcPts val="600"/>
              </a:spcBef>
              <a:spcAft>
                <a:spcPts val="0"/>
              </a:spcAft>
              <a:buSzPts val="1100"/>
              <a:buNone/>
            </a:pPr>
            <a:r>
              <a:rPr lang="en-US" sz="2000">
                <a:solidFill>
                  <a:schemeClr val="lt1"/>
                </a:solidFill>
                <a:latin typeface="Times New Roman"/>
                <a:ea typeface="Times New Roman"/>
                <a:cs typeface="Times New Roman"/>
                <a:sym typeface="Times New Roman"/>
              </a:rPr>
              <a:t>NFR-07: AI Accuracy : The chatbot should provide accurate haircut suggestions based on face shape. </a:t>
            </a:r>
            <a:br>
              <a:rPr lang="en-US" sz="2000">
                <a:solidFill>
                  <a:schemeClr val="lt1"/>
                </a:solidFill>
                <a:latin typeface="Times New Roman"/>
                <a:ea typeface="Times New Roman"/>
                <a:cs typeface="Times New Roman"/>
                <a:sym typeface="Times New Roman"/>
              </a:rPr>
            </a:br>
            <a:endParaRPr sz="20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B2444"/>
        </a:solidFill>
      </p:bgPr>
    </p:bg>
    <p:spTree>
      <p:nvGrpSpPr>
        <p:cNvPr id="127" name="Shape 127"/>
        <p:cNvGrpSpPr/>
        <p:nvPr/>
      </p:nvGrpSpPr>
      <p:grpSpPr>
        <a:xfrm>
          <a:off x="0" y="0"/>
          <a:ext cx="0" cy="0"/>
          <a:chOff x="0" y="0"/>
          <a:chExt cx="0" cy="0"/>
        </a:xfrm>
      </p:grpSpPr>
      <p:sp>
        <p:nvSpPr>
          <p:cNvPr id="128" name="Google Shape;128;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Roboto"/>
              <a:buNone/>
            </a:pPr>
            <a:r>
              <a:rPr lang="en-US">
                <a:solidFill>
                  <a:schemeClr val="lt1"/>
                </a:solidFill>
                <a:latin typeface="Roboto"/>
                <a:ea typeface="Roboto"/>
                <a:cs typeface="Roboto"/>
                <a:sym typeface="Roboto"/>
              </a:rPr>
              <a:t>Artificial intelligence related functionalities</a:t>
            </a:r>
            <a:endParaRPr b="0" i="0">
              <a:solidFill>
                <a:schemeClr val="lt1"/>
              </a:solidFill>
              <a:latin typeface="Roboto"/>
              <a:ea typeface="Roboto"/>
              <a:cs typeface="Roboto"/>
              <a:sym typeface="Roboto"/>
            </a:endParaRPr>
          </a:p>
        </p:txBody>
      </p:sp>
      <p:sp>
        <p:nvSpPr>
          <p:cNvPr id="129" name="Google Shape;129;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228600" rtl="0" algn="l">
              <a:lnSpc>
                <a:spcPct val="100000"/>
              </a:lnSpc>
              <a:spcBef>
                <a:spcPts val="600"/>
              </a:spcBef>
              <a:spcAft>
                <a:spcPts val="0"/>
              </a:spcAft>
              <a:buSzPts val="1800"/>
              <a:buNone/>
            </a:pPr>
            <a:r>
              <a:rPr lang="en-US" sz="2000">
                <a:solidFill>
                  <a:schemeClr val="lt1"/>
                </a:solidFill>
              </a:rPr>
              <a:t>1: Chatbot( Information , Assistant )</a:t>
            </a:r>
            <a:endParaRPr sz="2000">
              <a:solidFill>
                <a:schemeClr val="lt1"/>
              </a:solidFill>
            </a:endParaRPr>
          </a:p>
          <a:p>
            <a:pPr indent="0" lvl="0" marL="228600" rtl="0" algn="l">
              <a:lnSpc>
                <a:spcPct val="100000"/>
              </a:lnSpc>
              <a:spcBef>
                <a:spcPts val="600"/>
              </a:spcBef>
              <a:spcAft>
                <a:spcPts val="0"/>
              </a:spcAft>
              <a:buSzPts val="1800"/>
              <a:buNone/>
            </a:pPr>
            <a:br>
              <a:rPr lang="en-US" sz="2000">
                <a:solidFill>
                  <a:schemeClr val="lt1"/>
                </a:solidFill>
              </a:rPr>
            </a:br>
            <a:r>
              <a:rPr lang="en-US" sz="2000">
                <a:solidFill>
                  <a:schemeClr val="lt1"/>
                </a:solidFill>
              </a:rPr>
              <a:t>2: Salon Recommendation</a:t>
            </a:r>
            <a:endParaRPr sz="2000">
              <a:solidFill>
                <a:schemeClr val="lt1"/>
              </a:solidFill>
            </a:endParaRPr>
          </a:p>
          <a:p>
            <a:pPr indent="0" lvl="0" marL="228600" rtl="0" algn="l">
              <a:lnSpc>
                <a:spcPct val="100000"/>
              </a:lnSpc>
              <a:spcBef>
                <a:spcPts val="600"/>
              </a:spcBef>
              <a:spcAft>
                <a:spcPts val="0"/>
              </a:spcAft>
              <a:buSzPts val="1800"/>
              <a:buNone/>
            </a:pPr>
            <a:br>
              <a:rPr lang="en-US" sz="2000">
                <a:solidFill>
                  <a:schemeClr val="lt1"/>
                </a:solidFill>
              </a:rPr>
            </a:br>
            <a:r>
              <a:rPr lang="en-US" sz="2000">
                <a:solidFill>
                  <a:schemeClr val="lt1"/>
                </a:solidFill>
              </a:rPr>
              <a:t>3: Review Analyzer</a:t>
            </a:r>
            <a:endParaRPr sz="2000">
              <a:solidFill>
                <a:schemeClr val="lt1"/>
              </a:solidFill>
            </a:endParaRPr>
          </a:p>
          <a:p>
            <a:pPr indent="0" lvl="0" marL="228600" rtl="0" algn="l">
              <a:lnSpc>
                <a:spcPct val="100000"/>
              </a:lnSpc>
              <a:spcBef>
                <a:spcPts val="600"/>
              </a:spcBef>
              <a:spcAft>
                <a:spcPts val="0"/>
              </a:spcAft>
              <a:buSzPts val="1800"/>
              <a:buNone/>
            </a:pPr>
            <a:r>
              <a:t/>
            </a:r>
            <a:endParaRPr sz="2000">
              <a:solidFill>
                <a:schemeClr val="lt1"/>
              </a:solidFill>
            </a:endParaRPr>
          </a:p>
          <a:p>
            <a:pPr indent="0" lvl="0" marL="228600" rtl="0" algn="l">
              <a:lnSpc>
                <a:spcPct val="100000"/>
              </a:lnSpc>
              <a:spcBef>
                <a:spcPts val="600"/>
              </a:spcBef>
              <a:spcAft>
                <a:spcPts val="0"/>
              </a:spcAft>
              <a:buSzPts val="1800"/>
              <a:buNone/>
            </a:pPr>
            <a:r>
              <a:rPr lang="en-US" sz="2000">
                <a:solidFill>
                  <a:schemeClr val="lt1"/>
                </a:solidFill>
              </a:rPr>
              <a:t>4: Service Suggestion</a:t>
            </a:r>
            <a:endParaRPr sz="2000">
              <a:solidFill>
                <a:schemeClr val="lt1"/>
              </a:solidFill>
            </a:endParaRPr>
          </a:p>
          <a:p>
            <a:pPr indent="0" lvl="0" marL="228600" rtl="0" algn="l">
              <a:lnSpc>
                <a:spcPct val="100000"/>
              </a:lnSpc>
              <a:spcBef>
                <a:spcPts val="600"/>
              </a:spcBef>
              <a:spcAft>
                <a:spcPts val="0"/>
              </a:spcAft>
              <a:buSzPts val="1800"/>
              <a:buNone/>
            </a:pPr>
            <a:br>
              <a:rPr lang="en-US" sz="2000">
                <a:solidFill>
                  <a:schemeClr val="lt1"/>
                </a:solidFill>
              </a:rPr>
            </a:br>
            <a:r>
              <a:rPr lang="en-US" sz="2000">
                <a:solidFill>
                  <a:schemeClr val="lt1"/>
                </a:solidFill>
              </a:rPr>
              <a:t>5: AI Hair Condition</a:t>
            </a:r>
            <a:endParaRPr sz="2000">
              <a:solidFill>
                <a:schemeClr val="lt1"/>
              </a:solidFill>
            </a:endParaRPr>
          </a:p>
          <a:p>
            <a:pPr indent="0" lvl="0" marL="228600" rtl="0" algn="l">
              <a:lnSpc>
                <a:spcPct val="100000"/>
              </a:lnSpc>
              <a:spcBef>
                <a:spcPts val="600"/>
              </a:spcBef>
              <a:spcAft>
                <a:spcPts val="0"/>
              </a:spcAft>
              <a:buSzPts val="1800"/>
              <a:buNone/>
            </a:pPr>
            <a:br>
              <a:rPr lang="en-US" sz="2000">
                <a:solidFill>
                  <a:schemeClr val="lt1"/>
                </a:solidFill>
              </a:rPr>
            </a:br>
            <a:r>
              <a:rPr lang="en-US" sz="2000">
                <a:solidFill>
                  <a:schemeClr val="lt1"/>
                </a:solidFill>
              </a:rPr>
              <a:t>6: AI Skin Tone</a:t>
            </a:r>
            <a:endParaRPr sz="2000">
              <a:solidFill>
                <a:schemeClr val="lt1"/>
              </a:solidFill>
            </a:endParaRPr>
          </a:p>
          <a:p>
            <a:pPr indent="0" lvl="0" marL="228600" rtl="0" algn="l">
              <a:lnSpc>
                <a:spcPct val="100000"/>
              </a:lnSpc>
              <a:spcBef>
                <a:spcPts val="600"/>
              </a:spcBef>
              <a:spcAft>
                <a:spcPts val="0"/>
              </a:spcAft>
              <a:buSzPts val="1800"/>
              <a:buNone/>
            </a:pPr>
            <a:br>
              <a:rPr lang="en-US" sz="2000">
                <a:solidFill>
                  <a:schemeClr val="lt1"/>
                </a:solidFill>
              </a:rPr>
            </a:br>
            <a:r>
              <a:rPr lang="en-US" sz="2000">
                <a:solidFill>
                  <a:schemeClr val="lt1"/>
                </a:solidFill>
              </a:rPr>
              <a:t>7: 3D Model</a:t>
            </a:r>
            <a:endParaRPr sz="20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B2444"/>
        </a:solidFill>
      </p:bgPr>
    </p:bg>
    <p:spTree>
      <p:nvGrpSpPr>
        <p:cNvPr id="133" name="Shape 133"/>
        <p:cNvGrpSpPr/>
        <p:nvPr/>
      </p:nvGrpSpPr>
      <p:grpSpPr>
        <a:xfrm>
          <a:off x="0" y="0"/>
          <a:ext cx="0" cy="0"/>
          <a:chOff x="0" y="0"/>
          <a:chExt cx="0" cy="0"/>
        </a:xfrm>
      </p:grpSpPr>
      <p:sp>
        <p:nvSpPr>
          <p:cNvPr id="134" name="Google Shape;134;p8"/>
          <p:cNvSpPr txBox="1"/>
          <p:nvPr>
            <p:ph type="title"/>
          </p:nvPr>
        </p:nvSpPr>
        <p:spPr>
          <a:xfrm>
            <a:off x="838200" y="236025"/>
            <a:ext cx="10515600" cy="1325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Roboto"/>
              <a:buNone/>
            </a:pPr>
            <a:r>
              <a:rPr lang="en-US">
                <a:solidFill>
                  <a:schemeClr val="lt1"/>
                </a:solidFill>
                <a:latin typeface="Roboto"/>
                <a:ea typeface="Roboto"/>
                <a:cs typeface="Roboto"/>
                <a:sym typeface="Roboto"/>
              </a:rPr>
              <a:t>Research related Projects  Features/ Requirements/ Objectives (Tentative)  (Optional )</a:t>
            </a:r>
            <a:endParaRPr b="0" i="0">
              <a:solidFill>
                <a:schemeClr val="lt1"/>
              </a:solidFill>
              <a:latin typeface="Roboto"/>
              <a:ea typeface="Roboto"/>
              <a:cs typeface="Roboto"/>
              <a:sym typeface="Roboto"/>
            </a:endParaRPr>
          </a:p>
        </p:txBody>
      </p:sp>
      <p:sp>
        <p:nvSpPr>
          <p:cNvPr id="135" name="Google Shape;135;p8"/>
          <p:cNvSpPr txBox="1"/>
          <p:nvPr>
            <p:ph idx="1" type="body"/>
          </p:nvPr>
        </p:nvSpPr>
        <p:spPr>
          <a:xfrm>
            <a:off x="838200" y="1867199"/>
            <a:ext cx="10515600" cy="4819800"/>
          </a:xfrm>
          <a:prstGeom prst="rect">
            <a:avLst/>
          </a:prstGeom>
          <a:noFill/>
          <a:ln>
            <a:noFill/>
          </a:ln>
        </p:spPr>
        <p:txBody>
          <a:bodyPr anchorCtr="0" anchor="t" bIns="45700" lIns="91425" spcFirstLastPara="1" rIns="91425" wrap="square" tIns="45700">
            <a:noAutofit/>
          </a:bodyPr>
          <a:lstStyle/>
          <a:p>
            <a:pPr indent="0" lvl="0" marL="114300" rtl="0" algn="l">
              <a:lnSpc>
                <a:spcPct val="90000"/>
              </a:lnSpc>
              <a:spcBef>
                <a:spcPts val="1000"/>
              </a:spcBef>
              <a:spcAft>
                <a:spcPts val="0"/>
              </a:spcAft>
              <a:buSzPts val="2880"/>
              <a:buNone/>
            </a:pPr>
            <a:r>
              <a:rPr b="1" lang="en-US" sz="2000">
                <a:solidFill>
                  <a:schemeClr val="lt1"/>
                </a:solidFill>
                <a:latin typeface="Arial"/>
                <a:ea typeface="Arial"/>
                <a:cs typeface="Arial"/>
                <a:sym typeface="Arial"/>
              </a:rPr>
              <a:t>1.Face Shape &amp; Haircut Suitability</a:t>
            </a:r>
            <a:endParaRPr sz="2000"/>
          </a:p>
          <a:p>
            <a:pPr indent="0" lvl="0" marL="114300" rtl="0" algn="l">
              <a:lnSpc>
                <a:spcPct val="90000"/>
              </a:lnSpc>
              <a:spcBef>
                <a:spcPts val="1000"/>
              </a:spcBef>
              <a:spcAft>
                <a:spcPts val="0"/>
              </a:spcAft>
              <a:buSzPts val="2880"/>
              <a:buNone/>
            </a:pPr>
            <a:r>
              <a:rPr lang="en-US" sz="2000">
                <a:solidFill>
                  <a:schemeClr val="lt1"/>
                </a:solidFill>
                <a:latin typeface="Arial"/>
                <a:ea typeface="Arial"/>
                <a:cs typeface="Arial"/>
                <a:sym typeface="Arial"/>
              </a:rPr>
              <a:t>Which hairstyles best match different face shapes (round, oval, square, heart-shaped)?</a:t>
            </a:r>
            <a:endParaRPr sz="2000"/>
          </a:p>
          <a:p>
            <a:pPr indent="0" lvl="0" marL="114300" rtl="0" algn="l">
              <a:lnSpc>
                <a:spcPct val="90000"/>
              </a:lnSpc>
              <a:spcBef>
                <a:spcPts val="1000"/>
              </a:spcBef>
              <a:spcAft>
                <a:spcPts val="0"/>
              </a:spcAft>
              <a:buSzPts val="2880"/>
              <a:buNone/>
            </a:pPr>
            <a:r>
              <a:rPr lang="en-US" sz="2000">
                <a:solidFill>
                  <a:schemeClr val="lt1"/>
                </a:solidFill>
                <a:latin typeface="Arial"/>
                <a:ea typeface="Arial"/>
                <a:cs typeface="Arial"/>
                <a:sym typeface="Arial"/>
              </a:rPr>
              <a:t>How do users respond to the hairstyle recommendations generated by the AI chatbot?</a:t>
            </a:r>
            <a:endParaRPr sz="2000"/>
          </a:p>
          <a:p>
            <a:pPr indent="0" lvl="0" marL="114300" rtl="0" algn="l">
              <a:lnSpc>
                <a:spcPct val="90000"/>
              </a:lnSpc>
              <a:spcBef>
                <a:spcPts val="1000"/>
              </a:spcBef>
              <a:spcAft>
                <a:spcPts val="0"/>
              </a:spcAft>
              <a:buSzPts val="2880"/>
              <a:buNone/>
            </a:pPr>
            <a:r>
              <a:rPr b="1" lang="en-US" sz="2000">
                <a:solidFill>
                  <a:schemeClr val="lt1"/>
                </a:solidFill>
                <a:latin typeface="Arial"/>
                <a:ea typeface="Arial"/>
                <a:cs typeface="Arial"/>
                <a:sym typeface="Arial"/>
              </a:rPr>
              <a:t>2. User Preferences &amp; Behavior</a:t>
            </a:r>
            <a:endParaRPr sz="2000"/>
          </a:p>
          <a:p>
            <a:pPr indent="0" lvl="0" marL="114300" rtl="0" algn="l">
              <a:lnSpc>
                <a:spcPct val="90000"/>
              </a:lnSpc>
              <a:spcBef>
                <a:spcPts val="1000"/>
              </a:spcBef>
              <a:spcAft>
                <a:spcPts val="0"/>
              </a:spcAft>
              <a:buSzPts val="2880"/>
              <a:buNone/>
            </a:pPr>
            <a:r>
              <a:rPr lang="en-US" sz="2000">
                <a:solidFill>
                  <a:schemeClr val="lt1"/>
                </a:solidFill>
                <a:latin typeface="Arial"/>
                <a:ea typeface="Arial"/>
                <a:cs typeface="Arial"/>
                <a:sym typeface="Arial"/>
              </a:rPr>
              <a:t>What key factors influence users when choosing a barber or salon (price, location, ratings, services)?</a:t>
            </a:r>
            <a:endParaRPr sz="2000"/>
          </a:p>
          <a:p>
            <a:pPr indent="0" lvl="0" marL="114300" rtl="0" algn="l">
              <a:lnSpc>
                <a:spcPct val="90000"/>
              </a:lnSpc>
              <a:spcBef>
                <a:spcPts val="1000"/>
              </a:spcBef>
              <a:spcAft>
                <a:spcPts val="0"/>
              </a:spcAft>
              <a:buSzPts val="2880"/>
              <a:buNone/>
            </a:pPr>
            <a:r>
              <a:rPr lang="en-US" sz="2000">
                <a:solidFill>
                  <a:schemeClr val="lt1"/>
                </a:solidFill>
                <a:latin typeface="Arial"/>
                <a:ea typeface="Arial"/>
                <a:cs typeface="Arial"/>
                <a:sym typeface="Arial"/>
              </a:rPr>
              <a:t>How frequently do users prefer online booking compared to walk-in appointments?</a:t>
            </a:r>
            <a:endParaRPr sz="2000"/>
          </a:p>
          <a:p>
            <a:pPr indent="0" lvl="0" marL="114300" rtl="0" algn="l">
              <a:lnSpc>
                <a:spcPct val="90000"/>
              </a:lnSpc>
              <a:spcBef>
                <a:spcPts val="1000"/>
              </a:spcBef>
              <a:spcAft>
                <a:spcPts val="0"/>
              </a:spcAft>
              <a:buSzPts val="2880"/>
              <a:buNone/>
            </a:pPr>
            <a:r>
              <a:rPr b="1" lang="en-US" sz="2000">
                <a:solidFill>
                  <a:schemeClr val="lt1"/>
                </a:solidFill>
                <a:latin typeface="Arial"/>
                <a:ea typeface="Arial"/>
                <a:cs typeface="Arial"/>
                <a:sym typeface="Arial"/>
              </a:rPr>
              <a:t>3. AI Chatbot Effectiveness</a:t>
            </a:r>
            <a:endParaRPr sz="2000"/>
          </a:p>
          <a:p>
            <a:pPr indent="0" lvl="0" marL="114300" rtl="0" algn="l">
              <a:lnSpc>
                <a:spcPct val="90000"/>
              </a:lnSpc>
              <a:spcBef>
                <a:spcPts val="1000"/>
              </a:spcBef>
              <a:spcAft>
                <a:spcPts val="0"/>
              </a:spcAft>
              <a:buSzPts val="2880"/>
              <a:buNone/>
            </a:pPr>
            <a:r>
              <a:rPr lang="en-US" sz="2000">
                <a:solidFill>
                  <a:schemeClr val="lt1"/>
                </a:solidFill>
                <a:latin typeface="Arial"/>
                <a:ea typeface="Arial"/>
                <a:cs typeface="Arial"/>
                <a:sym typeface="Arial"/>
              </a:rPr>
              <a:t>How accurately can the AI chatbot detect face shape and suggest suitable hairstyles?</a:t>
            </a:r>
            <a:endParaRPr sz="2000"/>
          </a:p>
          <a:p>
            <a:pPr indent="0" lvl="0" marL="114300" rtl="0" algn="l">
              <a:lnSpc>
                <a:spcPct val="90000"/>
              </a:lnSpc>
              <a:spcBef>
                <a:spcPts val="1000"/>
              </a:spcBef>
              <a:spcAft>
                <a:spcPts val="0"/>
              </a:spcAft>
              <a:buSzPts val="2880"/>
              <a:buNone/>
            </a:pPr>
            <a:r>
              <a:rPr lang="en-US" sz="2000">
                <a:solidFill>
                  <a:schemeClr val="lt1"/>
                </a:solidFill>
                <a:latin typeface="Arial"/>
                <a:ea typeface="Arial"/>
                <a:cs typeface="Arial"/>
                <a:sym typeface="Arial"/>
              </a:rPr>
              <a:t>Does using the chatbot increase user satisfaction and engagement within the app?</a:t>
            </a:r>
            <a:endParaRPr sz="2000"/>
          </a:p>
          <a:p>
            <a:pPr indent="0" lvl="0" marL="114300" rtl="0" algn="l">
              <a:lnSpc>
                <a:spcPct val="90000"/>
              </a:lnSpc>
              <a:spcBef>
                <a:spcPts val="1000"/>
              </a:spcBef>
              <a:spcAft>
                <a:spcPts val="0"/>
              </a:spcAft>
              <a:buSzPts val="2880"/>
              <a:buNone/>
            </a:pPr>
            <a:r>
              <a:rPr b="1" lang="en-US" sz="2000">
                <a:solidFill>
                  <a:schemeClr val="lt1"/>
                </a:solidFill>
                <a:latin typeface="Arial"/>
                <a:ea typeface="Arial"/>
                <a:cs typeface="Arial"/>
                <a:sym typeface="Arial"/>
              </a:rPr>
              <a:t>4. Optimization of Booking &amp; Recommendations</a:t>
            </a:r>
            <a:endParaRPr sz="2000"/>
          </a:p>
          <a:p>
            <a:pPr indent="0" lvl="0" marL="114300" rtl="0" algn="l">
              <a:lnSpc>
                <a:spcPct val="90000"/>
              </a:lnSpc>
              <a:spcBef>
                <a:spcPts val="1000"/>
              </a:spcBef>
              <a:spcAft>
                <a:spcPts val="0"/>
              </a:spcAft>
              <a:buSzPts val="2880"/>
              <a:buNone/>
            </a:pPr>
            <a:r>
              <a:rPr lang="en-US" sz="2000">
                <a:solidFill>
                  <a:schemeClr val="lt1"/>
                </a:solidFill>
                <a:latin typeface="Arial"/>
                <a:ea typeface="Arial"/>
                <a:cs typeface="Arial"/>
                <a:sym typeface="Arial"/>
              </a:rPr>
              <a:t>How can AI predict peak service hours and recommend the best appointment times to users?</a:t>
            </a:r>
            <a:endParaRPr sz="2000"/>
          </a:p>
          <a:p>
            <a:pPr indent="0" lvl="0" marL="114300" rtl="0" algn="l">
              <a:lnSpc>
                <a:spcPct val="90000"/>
              </a:lnSpc>
              <a:spcBef>
                <a:spcPts val="1000"/>
              </a:spcBef>
              <a:spcAft>
                <a:spcPts val="0"/>
              </a:spcAft>
              <a:buSzPts val="2880"/>
              <a:buNone/>
            </a:pPr>
            <a:r>
              <a:rPr lang="en-US" sz="2000">
                <a:solidFill>
                  <a:schemeClr val="lt1"/>
                </a:solidFill>
                <a:latin typeface="Arial"/>
                <a:ea typeface="Arial"/>
                <a:cs typeface="Arial"/>
                <a:sym typeface="Arial"/>
              </a:rPr>
              <a:t>Which machine learning algorithms deliver the most accurate recommendations for hairstyles and booking</a:t>
            </a:r>
            <a:endParaRPr sz="2000"/>
          </a:p>
          <a:p>
            <a:pPr indent="0" lvl="0" marL="114300" rtl="0" algn="l">
              <a:lnSpc>
                <a:spcPct val="90000"/>
              </a:lnSpc>
              <a:spcBef>
                <a:spcPts val="1000"/>
              </a:spcBef>
              <a:spcAft>
                <a:spcPts val="0"/>
              </a:spcAft>
              <a:buSzPts val="2880"/>
              <a:buNone/>
            </a:pPr>
            <a:r>
              <a:rPr lang="en-US" sz="2000">
                <a:solidFill>
                  <a:schemeClr val="lt1"/>
                </a:solidFill>
                <a:latin typeface="Arial"/>
                <a:ea typeface="Arial"/>
                <a:cs typeface="Arial"/>
                <a:sym typeface="Arial"/>
              </a:rPr>
              <a:t> predictions?</a:t>
            </a:r>
            <a:endParaRPr sz="2000"/>
          </a:p>
          <a:p>
            <a:pPr indent="-50800" lvl="0" marL="228600" rtl="0" algn="l">
              <a:lnSpc>
                <a:spcPct val="90000"/>
              </a:lnSpc>
              <a:spcBef>
                <a:spcPts val="0"/>
              </a:spcBef>
              <a:spcAft>
                <a:spcPts val="0"/>
              </a:spcAft>
              <a:buClr>
                <a:schemeClr val="lt1"/>
              </a:buClr>
              <a:buSzPts val="4480"/>
              <a:buNone/>
            </a:pPr>
            <a:r>
              <a:t/>
            </a:r>
            <a:endParaRPr sz="20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B2444"/>
        </a:solidFill>
      </p:bgPr>
    </p:bg>
    <p:spTree>
      <p:nvGrpSpPr>
        <p:cNvPr id="139" name="Shape 139"/>
        <p:cNvGrpSpPr/>
        <p:nvPr/>
      </p:nvGrpSpPr>
      <p:grpSpPr>
        <a:xfrm>
          <a:off x="0" y="0"/>
          <a:ext cx="0" cy="0"/>
          <a:chOff x="0" y="0"/>
          <a:chExt cx="0" cy="0"/>
        </a:xfrm>
      </p:grpSpPr>
      <p:sp>
        <p:nvSpPr>
          <p:cNvPr id="140" name="Google Shape;140;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Roboto"/>
              <a:buNone/>
            </a:pPr>
            <a:r>
              <a:rPr lang="en-US">
                <a:solidFill>
                  <a:schemeClr val="lt1"/>
                </a:solidFill>
                <a:latin typeface="Roboto"/>
                <a:ea typeface="Roboto"/>
                <a:cs typeface="Roboto"/>
                <a:sym typeface="Roboto"/>
              </a:rPr>
              <a:t>Target Users/Beneficiaries of the Proposed System</a:t>
            </a:r>
            <a:endParaRPr b="0" i="0">
              <a:solidFill>
                <a:schemeClr val="lt1"/>
              </a:solidFill>
              <a:latin typeface="Roboto"/>
              <a:ea typeface="Roboto"/>
              <a:cs typeface="Roboto"/>
              <a:sym typeface="Roboto"/>
            </a:endParaRPr>
          </a:p>
        </p:txBody>
      </p:sp>
      <p:sp>
        <p:nvSpPr>
          <p:cNvPr id="141" name="Google Shape;141;p9"/>
          <p:cNvSpPr txBox="1"/>
          <p:nvPr>
            <p:ph idx="1" type="body"/>
          </p:nvPr>
        </p:nvSpPr>
        <p:spPr>
          <a:xfrm>
            <a:off x="838200" y="1825624"/>
            <a:ext cx="10515600" cy="5032376"/>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SzPts val="3273"/>
              <a:buNone/>
            </a:pPr>
            <a:r>
              <a:rPr lang="en-US" sz="2000">
                <a:solidFill>
                  <a:schemeClr val="lt1"/>
                </a:solidFill>
              </a:rPr>
              <a:t>Target Users:</a:t>
            </a:r>
            <a:endParaRPr sz="2000"/>
          </a:p>
          <a:p>
            <a:pPr indent="-355600" lvl="0" marL="457200" rtl="0" algn="l">
              <a:lnSpc>
                <a:spcPct val="90000"/>
              </a:lnSpc>
              <a:spcBef>
                <a:spcPts val="1000"/>
              </a:spcBef>
              <a:spcAft>
                <a:spcPts val="0"/>
              </a:spcAft>
              <a:buClr>
                <a:schemeClr val="lt1"/>
              </a:buClr>
              <a:buSzPts val="2000"/>
              <a:buChar char="•"/>
            </a:pPr>
            <a:r>
              <a:rPr lang="en-US" sz="2000">
                <a:solidFill>
                  <a:schemeClr val="lt1"/>
                </a:solidFill>
              </a:rPr>
              <a:t>Customers: Individuals seeking convenient and personalized beauty services (haircuts, facials, etc.).</a:t>
            </a:r>
            <a:endParaRPr sz="2000"/>
          </a:p>
          <a:p>
            <a:pPr indent="-355600" lvl="0" marL="457200" rtl="0" algn="l">
              <a:lnSpc>
                <a:spcPct val="90000"/>
              </a:lnSpc>
              <a:spcBef>
                <a:spcPts val="1000"/>
              </a:spcBef>
              <a:spcAft>
                <a:spcPts val="0"/>
              </a:spcAft>
              <a:buClr>
                <a:schemeClr val="lt1"/>
              </a:buClr>
              <a:buSzPts val="2000"/>
              <a:buChar char="•"/>
            </a:pPr>
            <a:r>
              <a:rPr lang="en-US" sz="2000">
                <a:solidFill>
                  <a:schemeClr val="lt1"/>
                </a:solidFill>
              </a:rPr>
              <a:t>Salon Owners: Businesses seeking a centralized platform to manage appointments, services, and clients.</a:t>
            </a:r>
            <a:endParaRPr sz="2000"/>
          </a:p>
          <a:p>
            <a:pPr indent="-355600" lvl="0" marL="457200" rtl="0" algn="l">
              <a:lnSpc>
                <a:spcPct val="90000"/>
              </a:lnSpc>
              <a:spcBef>
                <a:spcPts val="1000"/>
              </a:spcBef>
              <a:spcAft>
                <a:spcPts val="0"/>
              </a:spcAft>
              <a:buClr>
                <a:schemeClr val="lt1"/>
              </a:buClr>
              <a:buSzPts val="2000"/>
              <a:buChar char="•"/>
            </a:pPr>
            <a:r>
              <a:rPr lang="en-US" sz="2000">
                <a:solidFill>
                  <a:schemeClr val="lt1"/>
                </a:solidFill>
              </a:rPr>
              <a:t>Beauty Industry Stakeholders: Entrepreneurs or professionals looking to optimize services using customer data and AI.</a:t>
            </a:r>
            <a:endParaRPr sz="2000"/>
          </a:p>
          <a:p>
            <a:pPr indent="0" lvl="0" marL="114300" rtl="0" algn="l">
              <a:lnSpc>
                <a:spcPct val="90000"/>
              </a:lnSpc>
              <a:spcBef>
                <a:spcPts val="1000"/>
              </a:spcBef>
              <a:spcAft>
                <a:spcPts val="0"/>
              </a:spcAft>
              <a:buSzPts val="3273"/>
              <a:buNone/>
            </a:pPr>
            <a:br>
              <a:rPr lang="en-US" sz="2000">
                <a:solidFill>
                  <a:schemeClr val="lt1"/>
                </a:solidFill>
              </a:rPr>
            </a:br>
            <a:r>
              <a:rPr lang="en-US" sz="2000">
                <a:solidFill>
                  <a:schemeClr val="lt1"/>
                </a:solidFill>
              </a:rPr>
              <a:t>Importance:</a:t>
            </a:r>
            <a:endParaRPr sz="2000">
              <a:solidFill>
                <a:schemeClr val="lt1"/>
              </a:solidFill>
            </a:endParaRPr>
          </a:p>
          <a:p>
            <a:pPr indent="-355600" lvl="0" marL="457200" rtl="0" algn="l">
              <a:lnSpc>
                <a:spcPct val="90000"/>
              </a:lnSpc>
              <a:spcBef>
                <a:spcPts val="1000"/>
              </a:spcBef>
              <a:spcAft>
                <a:spcPts val="0"/>
              </a:spcAft>
              <a:buClr>
                <a:schemeClr val="lt1"/>
              </a:buClr>
              <a:buSzPts val="2000"/>
              <a:buChar char="•"/>
            </a:pPr>
            <a:r>
              <a:rPr lang="en-US" sz="2000">
                <a:solidFill>
                  <a:schemeClr val="lt1"/>
                </a:solidFill>
              </a:rPr>
              <a:t>Customers benefit from convenience, personalization, and transparency.</a:t>
            </a:r>
            <a:endParaRPr sz="2000"/>
          </a:p>
          <a:p>
            <a:pPr indent="-355600" lvl="0" marL="457200" rtl="0" algn="l">
              <a:lnSpc>
                <a:spcPct val="90000"/>
              </a:lnSpc>
              <a:spcBef>
                <a:spcPts val="1000"/>
              </a:spcBef>
              <a:spcAft>
                <a:spcPts val="0"/>
              </a:spcAft>
              <a:buClr>
                <a:schemeClr val="lt1"/>
              </a:buClr>
              <a:buSzPts val="2000"/>
              <a:buChar char="•"/>
            </a:pPr>
            <a:r>
              <a:rPr lang="en-US" sz="2000">
                <a:solidFill>
                  <a:schemeClr val="lt1"/>
                </a:solidFill>
              </a:rPr>
              <a:t>Salon Owners benefit from automation, easy management, and improved customer engagement.</a:t>
            </a:r>
            <a:endParaRPr sz="2000">
              <a:solidFill>
                <a:schemeClr val="lt1"/>
              </a:solidFill>
            </a:endParaRPr>
          </a:p>
          <a:p>
            <a:pPr indent="0" lvl="0" marL="0" rtl="0" algn="l">
              <a:lnSpc>
                <a:spcPct val="90000"/>
              </a:lnSpc>
              <a:spcBef>
                <a:spcPts val="1000"/>
              </a:spcBef>
              <a:spcAft>
                <a:spcPts val="0"/>
              </a:spcAft>
              <a:buSzPts val="2204"/>
              <a:buNone/>
            </a:pPr>
            <a:r>
              <a:rPr lang="en-US" sz="2000">
                <a:solidFill>
                  <a:schemeClr val="lt1"/>
                </a:solidFill>
              </a:rPr>
              <a:t> </a:t>
            </a:r>
            <a:endParaRPr sz="20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B2444"/>
        </a:solidFill>
      </p:bgPr>
    </p:bg>
    <p:spTree>
      <p:nvGrpSpPr>
        <p:cNvPr id="145" name="Shape 145"/>
        <p:cNvGrpSpPr/>
        <p:nvPr/>
      </p:nvGrpSpPr>
      <p:grpSpPr>
        <a:xfrm>
          <a:off x="0" y="0"/>
          <a:ext cx="0" cy="0"/>
          <a:chOff x="0" y="0"/>
          <a:chExt cx="0" cy="0"/>
        </a:xfrm>
      </p:grpSpPr>
      <p:sp>
        <p:nvSpPr>
          <p:cNvPr id="146" name="Google Shape;14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Roboto"/>
              <a:buNone/>
            </a:pPr>
            <a:r>
              <a:rPr lang="en-US">
                <a:solidFill>
                  <a:schemeClr val="lt1"/>
                </a:solidFill>
                <a:latin typeface="Roboto"/>
                <a:ea typeface="Roboto"/>
                <a:cs typeface="Roboto"/>
                <a:sym typeface="Roboto"/>
              </a:rPr>
              <a:t>Technologies (Tentative Listing)</a:t>
            </a:r>
            <a:endParaRPr b="0" i="0">
              <a:solidFill>
                <a:schemeClr val="lt1"/>
              </a:solidFill>
              <a:latin typeface="Roboto"/>
              <a:ea typeface="Roboto"/>
              <a:cs typeface="Roboto"/>
              <a:sym typeface="Roboto"/>
            </a:endParaRPr>
          </a:p>
        </p:txBody>
      </p:sp>
      <p:sp>
        <p:nvSpPr>
          <p:cNvPr id="147" name="Google Shape;147;p10"/>
          <p:cNvSpPr txBox="1"/>
          <p:nvPr>
            <p:ph idx="1" type="body"/>
          </p:nvPr>
        </p:nvSpPr>
        <p:spPr>
          <a:xfrm>
            <a:off x="838199" y="1806724"/>
            <a:ext cx="10714703" cy="4731727"/>
          </a:xfrm>
          <a:prstGeom prst="rect">
            <a:avLst/>
          </a:prstGeom>
          <a:noFill/>
          <a:ln>
            <a:noFill/>
          </a:ln>
        </p:spPr>
        <p:txBody>
          <a:bodyPr anchorCtr="0" anchor="t" bIns="45700" lIns="91425" spcFirstLastPara="1" rIns="91425" wrap="square" tIns="45700">
            <a:noAutofit/>
          </a:bodyPr>
          <a:lstStyle/>
          <a:p>
            <a:pPr indent="-209550" lvl="0" marL="228600" rtl="0" algn="l">
              <a:lnSpc>
                <a:spcPct val="90000"/>
              </a:lnSpc>
              <a:spcBef>
                <a:spcPts val="0"/>
              </a:spcBef>
              <a:spcAft>
                <a:spcPts val="0"/>
              </a:spcAft>
              <a:buClr>
                <a:srgbClr val="FFFFFF"/>
              </a:buClr>
              <a:buSzPts val="2000"/>
              <a:buChar char="•"/>
            </a:pPr>
            <a:r>
              <a:rPr lang="en-US" sz="2000">
                <a:solidFill>
                  <a:srgbClr val="FFFFFF"/>
                </a:solidFill>
                <a:latin typeface="Arial"/>
                <a:ea typeface="Arial"/>
                <a:cs typeface="Arial"/>
                <a:sym typeface="Arial"/>
              </a:rPr>
              <a:t>Frontend: </a:t>
            </a:r>
            <a:r>
              <a:rPr lang="en-US" sz="2000">
                <a:solidFill>
                  <a:schemeClr val="lt1"/>
                </a:solidFill>
              </a:rPr>
              <a:t>React.js / Flutter (Dart) / Tailwind CSS</a:t>
            </a:r>
            <a:br>
              <a:rPr lang="en-US" sz="2000">
                <a:solidFill>
                  <a:srgbClr val="FFFFFF"/>
                </a:solidFill>
                <a:latin typeface="Arial"/>
                <a:ea typeface="Arial"/>
                <a:cs typeface="Arial"/>
                <a:sym typeface="Arial"/>
              </a:rPr>
            </a:br>
            <a:endParaRPr sz="2000">
              <a:solidFill>
                <a:srgbClr val="FFFFFF"/>
              </a:solidFill>
              <a:latin typeface="Arial"/>
              <a:ea typeface="Arial"/>
              <a:cs typeface="Arial"/>
              <a:sym typeface="Arial"/>
            </a:endParaRPr>
          </a:p>
          <a:p>
            <a:pPr indent="-209550" lvl="0" marL="228600" rtl="0" algn="l">
              <a:lnSpc>
                <a:spcPct val="90000"/>
              </a:lnSpc>
              <a:spcBef>
                <a:spcPts val="0"/>
              </a:spcBef>
              <a:spcAft>
                <a:spcPts val="0"/>
              </a:spcAft>
              <a:buClr>
                <a:srgbClr val="FFFFFF"/>
              </a:buClr>
              <a:buSzPts val="2000"/>
              <a:buChar char="•"/>
            </a:pPr>
            <a:r>
              <a:rPr lang="en-US" sz="2000">
                <a:solidFill>
                  <a:srgbClr val="FFFFFF"/>
                </a:solidFill>
                <a:latin typeface="Arial"/>
                <a:ea typeface="Arial"/>
                <a:cs typeface="Arial"/>
                <a:sym typeface="Arial"/>
              </a:rPr>
              <a:t>Backend: FastAPI</a:t>
            </a:r>
            <a:br>
              <a:rPr lang="en-US" sz="2000">
                <a:solidFill>
                  <a:srgbClr val="FFFFFF"/>
                </a:solidFill>
                <a:latin typeface="Arial"/>
                <a:ea typeface="Arial"/>
                <a:cs typeface="Arial"/>
                <a:sym typeface="Arial"/>
              </a:rPr>
            </a:br>
            <a:endParaRPr sz="2000">
              <a:solidFill>
                <a:srgbClr val="FFFFFF"/>
              </a:solidFill>
              <a:latin typeface="Arial"/>
              <a:ea typeface="Arial"/>
              <a:cs typeface="Arial"/>
              <a:sym typeface="Arial"/>
            </a:endParaRPr>
          </a:p>
          <a:p>
            <a:pPr indent="-209550" lvl="0" marL="228600" rtl="0" algn="l">
              <a:lnSpc>
                <a:spcPct val="90000"/>
              </a:lnSpc>
              <a:spcBef>
                <a:spcPts val="0"/>
              </a:spcBef>
              <a:spcAft>
                <a:spcPts val="0"/>
              </a:spcAft>
              <a:buClr>
                <a:srgbClr val="FFFFFF"/>
              </a:buClr>
              <a:buSzPts val="2000"/>
              <a:buChar char="•"/>
            </a:pPr>
            <a:r>
              <a:rPr lang="en-US" sz="2000">
                <a:solidFill>
                  <a:srgbClr val="FFFFFF"/>
                </a:solidFill>
                <a:latin typeface="Arial"/>
                <a:ea typeface="Arial"/>
                <a:cs typeface="Arial"/>
                <a:sym typeface="Arial"/>
              </a:rPr>
              <a:t>Database: </a:t>
            </a:r>
            <a:r>
              <a:rPr lang="en-US" sz="2000">
                <a:solidFill>
                  <a:schemeClr val="lt1"/>
                </a:solidFill>
                <a:latin typeface="Arial"/>
                <a:ea typeface="Arial"/>
                <a:cs typeface="Arial"/>
                <a:sym typeface="Arial"/>
              </a:rPr>
              <a:t>Firebase Firestore</a:t>
            </a:r>
            <a:r>
              <a:rPr lang="en-US" sz="2000">
                <a:solidFill>
                  <a:srgbClr val="FFFFFF"/>
                </a:solidFill>
                <a:latin typeface="Arial"/>
                <a:ea typeface="Arial"/>
                <a:cs typeface="Arial"/>
                <a:sym typeface="Arial"/>
              </a:rPr>
              <a:t>/ MongoDB</a:t>
            </a:r>
            <a:br>
              <a:rPr lang="en-US" sz="2000">
                <a:solidFill>
                  <a:srgbClr val="FFFFFF"/>
                </a:solidFill>
                <a:latin typeface="Arial"/>
                <a:ea typeface="Arial"/>
                <a:cs typeface="Arial"/>
                <a:sym typeface="Arial"/>
              </a:rPr>
            </a:br>
            <a:endParaRPr sz="2000">
              <a:solidFill>
                <a:srgbClr val="FFFFFF"/>
              </a:solidFill>
              <a:latin typeface="Arial"/>
              <a:ea typeface="Arial"/>
              <a:cs typeface="Arial"/>
              <a:sym typeface="Arial"/>
            </a:endParaRPr>
          </a:p>
          <a:p>
            <a:pPr indent="-209550" lvl="0" marL="228600" rtl="0" algn="l">
              <a:lnSpc>
                <a:spcPct val="90000"/>
              </a:lnSpc>
              <a:spcBef>
                <a:spcPts val="0"/>
              </a:spcBef>
              <a:spcAft>
                <a:spcPts val="0"/>
              </a:spcAft>
              <a:buClr>
                <a:srgbClr val="FFFFFF"/>
              </a:buClr>
              <a:buSzPts val="2000"/>
              <a:buChar char="•"/>
            </a:pPr>
            <a:r>
              <a:rPr lang="en-US" sz="2000">
                <a:solidFill>
                  <a:srgbClr val="FFFFFF"/>
                </a:solidFill>
                <a:latin typeface="Arial"/>
                <a:ea typeface="Arial"/>
                <a:cs typeface="Arial"/>
                <a:sym typeface="Arial"/>
              </a:rPr>
              <a:t>AI Tools: Gemini API</a:t>
            </a:r>
            <a:br>
              <a:rPr lang="en-US" sz="2000">
                <a:solidFill>
                  <a:srgbClr val="FFFFFF"/>
                </a:solidFill>
                <a:latin typeface="Arial"/>
                <a:ea typeface="Arial"/>
                <a:cs typeface="Arial"/>
                <a:sym typeface="Arial"/>
              </a:rPr>
            </a:br>
            <a:endParaRPr sz="2000">
              <a:solidFill>
                <a:srgbClr val="FFFFFF"/>
              </a:solidFill>
              <a:latin typeface="Arial"/>
              <a:ea typeface="Arial"/>
              <a:cs typeface="Arial"/>
              <a:sym typeface="Arial"/>
            </a:endParaRPr>
          </a:p>
          <a:p>
            <a:pPr indent="-209550" lvl="0" marL="228600" rtl="0" algn="l">
              <a:lnSpc>
                <a:spcPct val="90000"/>
              </a:lnSpc>
              <a:spcBef>
                <a:spcPts val="0"/>
              </a:spcBef>
              <a:spcAft>
                <a:spcPts val="0"/>
              </a:spcAft>
              <a:buClr>
                <a:srgbClr val="FFFFFF"/>
              </a:buClr>
              <a:buSzPts val="2000"/>
              <a:buChar char="•"/>
            </a:pPr>
            <a:r>
              <a:rPr lang="en-US" sz="2000">
                <a:solidFill>
                  <a:srgbClr val="FFFFFF"/>
                </a:solidFill>
                <a:latin typeface="Arial"/>
                <a:ea typeface="Arial"/>
                <a:cs typeface="Arial"/>
                <a:sym typeface="Arial"/>
              </a:rPr>
              <a:t>Payment Integration: Stripe</a:t>
            </a:r>
            <a:br>
              <a:rPr lang="en-US" sz="2000">
                <a:solidFill>
                  <a:srgbClr val="FFFFFF"/>
                </a:solidFill>
                <a:latin typeface="Arial"/>
                <a:ea typeface="Arial"/>
                <a:cs typeface="Arial"/>
                <a:sym typeface="Arial"/>
              </a:rPr>
            </a:br>
            <a:endParaRPr sz="2000">
              <a:solidFill>
                <a:srgbClr val="FFFFFF"/>
              </a:solidFill>
              <a:latin typeface="Arial"/>
              <a:ea typeface="Arial"/>
              <a:cs typeface="Arial"/>
              <a:sym typeface="Arial"/>
            </a:endParaRPr>
          </a:p>
          <a:p>
            <a:pPr indent="-209550" lvl="0" marL="228600" rtl="0" algn="l">
              <a:lnSpc>
                <a:spcPct val="90000"/>
              </a:lnSpc>
              <a:spcBef>
                <a:spcPts val="0"/>
              </a:spcBef>
              <a:spcAft>
                <a:spcPts val="0"/>
              </a:spcAft>
              <a:buClr>
                <a:srgbClr val="FFFFFF"/>
              </a:buClr>
              <a:buSzPts val="2000"/>
              <a:buChar char="•"/>
            </a:pPr>
            <a:r>
              <a:rPr lang="en-US" sz="2000">
                <a:solidFill>
                  <a:srgbClr val="FFFFFF"/>
                </a:solidFill>
                <a:latin typeface="Arial"/>
                <a:ea typeface="Arial"/>
                <a:cs typeface="Arial"/>
                <a:sym typeface="Arial"/>
              </a:rPr>
              <a:t>Cloud Platform: </a:t>
            </a:r>
            <a:r>
              <a:rPr lang="en-US" sz="2000">
                <a:solidFill>
                  <a:schemeClr val="lt1"/>
                </a:solidFill>
              </a:rPr>
              <a:t>Azure / Firebase / Vercel</a:t>
            </a:r>
            <a:endParaRPr sz="2000"/>
          </a:p>
          <a:p>
            <a:pPr indent="-82550" lvl="0" marL="228600" rtl="0" algn="l">
              <a:lnSpc>
                <a:spcPct val="90000"/>
              </a:lnSpc>
              <a:spcBef>
                <a:spcPts val="0"/>
              </a:spcBef>
              <a:spcAft>
                <a:spcPts val="0"/>
              </a:spcAft>
              <a:buClr>
                <a:srgbClr val="FFFFFF"/>
              </a:buClr>
              <a:buSzPts val="2300"/>
              <a:buNone/>
            </a:pPr>
            <a:r>
              <a:t/>
            </a:r>
            <a:endParaRPr sz="2000">
              <a:solidFill>
                <a:schemeClr val="lt1"/>
              </a:solidFill>
            </a:endParaRPr>
          </a:p>
          <a:p>
            <a:pPr indent="-209550" lvl="0" marL="228600" rtl="0" algn="l">
              <a:lnSpc>
                <a:spcPct val="90000"/>
              </a:lnSpc>
              <a:spcBef>
                <a:spcPts val="0"/>
              </a:spcBef>
              <a:spcAft>
                <a:spcPts val="0"/>
              </a:spcAft>
              <a:buClr>
                <a:srgbClr val="FFFFFF"/>
              </a:buClr>
              <a:buSzPts val="2000"/>
              <a:buChar char="•"/>
            </a:pPr>
            <a:r>
              <a:rPr lang="en-US" sz="2000">
                <a:solidFill>
                  <a:srgbClr val="FFFFFF"/>
                </a:solidFill>
                <a:latin typeface="Arial"/>
                <a:ea typeface="Arial"/>
                <a:cs typeface="Arial"/>
                <a:sym typeface="Arial"/>
              </a:rPr>
              <a:t>Security: </a:t>
            </a:r>
            <a:r>
              <a:rPr lang="en-US" sz="2000">
                <a:solidFill>
                  <a:schemeClr val="lt1"/>
                </a:solidFill>
              </a:rPr>
              <a:t>Firebase Security Rules, HTTPS, Encryption</a:t>
            </a:r>
            <a:endParaRPr sz="20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B2444"/>
        </a:solidFill>
      </p:bgPr>
    </p:bg>
    <p:spTree>
      <p:nvGrpSpPr>
        <p:cNvPr id="151" name="Shape 151"/>
        <p:cNvGrpSpPr/>
        <p:nvPr/>
      </p:nvGrpSpPr>
      <p:grpSpPr>
        <a:xfrm>
          <a:off x="0" y="0"/>
          <a:ext cx="0" cy="0"/>
          <a:chOff x="0" y="0"/>
          <a:chExt cx="0" cy="0"/>
        </a:xfrm>
      </p:grpSpPr>
      <p:sp>
        <p:nvSpPr>
          <p:cNvPr id="152" name="Google Shape;152;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Roboto"/>
              <a:buNone/>
            </a:pPr>
            <a:r>
              <a:rPr lang="en-US">
                <a:solidFill>
                  <a:schemeClr val="lt1"/>
                </a:solidFill>
                <a:latin typeface="Roboto"/>
                <a:ea typeface="Roboto"/>
                <a:cs typeface="Roboto"/>
                <a:sym typeface="Roboto"/>
              </a:rPr>
              <a:t>Cloud Platform</a:t>
            </a:r>
            <a:endParaRPr b="0" i="0">
              <a:solidFill>
                <a:schemeClr val="lt1"/>
              </a:solidFill>
              <a:latin typeface="Roboto"/>
              <a:ea typeface="Roboto"/>
              <a:cs typeface="Roboto"/>
              <a:sym typeface="Roboto"/>
            </a:endParaRPr>
          </a:p>
        </p:txBody>
      </p:sp>
      <p:sp>
        <p:nvSpPr>
          <p:cNvPr id="153" name="Google Shape;153;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24104" lvl="0" marL="457200" rtl="0" algn="l">
              <a:lnSpc>
                <a:spcPct val="90000"/>
              </a:lnSpc>
              <a:spcBef>
                <a:spcPts val="1000"/>
              </a:spcBef>
              <a:spcAft>
                <a:spcPts val="0"/>
              </a:spcAft>
              <a:buClr>
                <a:schemeClr val="lt1"/>
              </a:buClr>
              <a:buSzPts val="2000"/>
              <a:buFont typeface="Arial"/>
              <a:buChar char="•"/>
            </a:pPr>
            <a:r>
              <a:rPr lang="en-US" sz="2000">
                <a:solidFill>
                  <a:schemeClr val="lt1"/>
                </a:solidFill>
              </a:rPr>
              <a:t>Chosen Platform: Azure</a:t>
            </a:r>
            <a:endParaRPr sz="2000"/>
          </a:p>
          <a:p>
            <a:pPr indent="0" lvl="0" marL="114300" rtl="0" algn="l">
              <a:lnSpc>
                <a:spcPct val="90000"/>
              </a:lnSpc>
              <a:spcBef>
                <a:spcPts val="1000"/>
              </a:spcBef>
              <a:spcAft>
                <a:spcPts val="0"/>
              </a:spcAft>
              <a:buSzPts val="1800"/>
              <a:buNone/>
            </a:pPr>
            <a:r>
              <a:rPr lang="en-US" sz="2000">
                <a:solidFill>
                  <a:schemeClr val="lt1"/>
                </a:solidFill>
              </a:rPr>
              <a:t>Secure hosting, database management, and AI-powered services for reliable app performance.</a:t>
            </a:r>
            <a:endParaRPr sz="2000">
              <a:solidFill>
                <a:schemeClr val="lt1"/>
              </a:solidFill>
            </a:endParaRPr>
          </a:p>
          <a:p>
            <a:pPr indent="0" lvl="0" marL="114300" rtl="0" algn="l">
              <a:lnSpc>
                <a:spcPct val="90000"/>
              </a:lnSpc>
              <a:spcBef>
                <a:spcPts val="1000"/>
              </a:spcBef>
              <a:spcAft>
                <a:spcPts val="0"/>
              </a:spcAft>
              <a:buSzPts val="1800"/>
              <a:buNone/>
            </a:pPr>
            <a:r>
              <a:t/>
            </a:r>
            <a:endParaRPr sz="2000">
              <a:solidFill>
                <a:schemeClr val="lt1"/>
              </a:solidFill>
            </a:endParaRPr>
          </a:p>
          <a:p>
            <a:pPr indent="-324104" lvl="0" marL="457200" rtl="0" algn="l">
              <a:lnSpc>
                <a:spcPct val="90000"/>
              </a:lnSpc>
              <a:spcBef>
                <a:spcPts val="1000"/>
              </a:spcBef>
              <a:spcAft>
                <a:spcPts val="0"/>
              </a:spcAft>
              <a:buClr>
                <a:schemeClr val="lt1"/>
              </a:buClr>
              <a:buSzPts val="2000"/>
              <a:buFont typeface="Arial"/>
              <a:buChar char="•"/>
            </a:pPr>
            <a:r>
              <a:rPr lang="en-US" sz="2000">
                <a:solidFill>
                  <a:schemeClr val="lt1"/>
                </a:solidFill>
              </a:rPr>
              <a:t>Alternative Option 1: Firebase</a:t>
            </a:r>
            <a:endParaRPr sz="2000"/>
          </a:p>
          <a:p>
            <a:pPr indent="0" lvl="0" marL="114300" rtl="0" algn="l">
              <a:lnSpc>
                <a:spcPct val="90000"/>
              </a:lnSpc>
              <a:spcBef>
                <a:spcPts val="1000"/>
              </a:spcBef>
              <a:spcAft>
                <a:spcPts val="0"/>
              </a:spcAft>
              <a:buSzPts val="1800"/>
              <a:buNone/>
            </a:pPr>
            <a:r>
              <a:rPr lang="en-US" sz="2000">
                <a:solidFill>
                  <a:schemeClr val="lt1"/>
                </a:solidFill>
              </a:rPr>
              <a:t>Real-time database, authentication, and cloud storage for fast and scalable mobile and web development.</a:t>
            </a:r>
            <a:endParaRPr sz="2000">
              <a:solidFill>
                <a:schemeClr val="lt1"/>
              </a:solidFill>
            </a:endParaRPr>
          </a:p>
          <a:p>
            <a:pPr indent="0" lvl="0" marL="114300" rtl="0" algn="l">
              <a:lnSpc>
                <a:spcPct val="90000"/>
              </a:lnSpc>
              <a:spcBef>
                <a:spcPts val="1000"/>
              </a:spcBef>
              <a:spcAft>
                <a:spcPts val="0"/>
              </a:spcAft>
              <a:buSzPts val="1800"/>
              <a:buNone/>
            </a:pPr>
            <a:r>
              <a:t/>
            </a:r>
            <a:endParaRPr sz="2000">
              <a:solidFill>
                <a:schemeClr val="lt1"/>
              </a:solidFill>
            </a:endParaRPr>
          </a:p>
          <a:p>
            <a:pPr indent="-324104" lvl="0" marL="457200" rtl="0" algn="l">
              <a:lnSpc>
                <a:spcPct val="90000"/>
              </a:lnSpc>
              <a:spcBef>
                <a:spcPts val="1000"/>
              </a:spcBef>
              <a:spcAft>
                <a:spcPts val="0"/>
              </a:spcAft>
              <a:buClr>
                <a:schemeClr val="lt1"/>
              </a:buClr>
              <a:buSzPts val="2000"/>
              <a:buFont typeface="Arial"/>
              <a:buChar char="•"/>
            </a:pPr>
            <a:r>
              <a:rPr lang="en-US" sz="2000">
                <a:solidFill>
                  <a:schemeClr val="lt1"/>
                </a:solidFill>
              </a:rPr>
              <a:t>Alternative Option 2: Vercel</a:t>
            </a:r>
            <a:endParaRPr sz="2000"/>
          </a:p>
          <a:p>
            <a:pPr indent="0" lvl="0" marL="114300" rtl="0" algn="l">
              <a:lnSpc>
                <a:spcPct val="90000"/>
              </a:lnSpc>
              <a:spcBef>
                <a:spcPts val="1000"/>
              </a:spcBef>
              <a:spcAft>
                <a:spcPts val="0"/>
              </a:spcAft>
              <a:buSzPts val="1800"/>
              <a:buNone/>
            </a:pPr>
            <a:r>
              <a:rPr lang="en-US" sz="2000">
                <a:solidFill>
                  <a:schemeClr val="lt1"/>
                </a:solidFill>
              </a:rPr>
              <a:t>Frontend hosting with automatic deployments and global CDN for ultra-fast web performance.</a:t>
            </a:r>
            <a:endParaRPr sz="20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B2444"/>
        </a:solidFill>
      </p:bgPr>
    </p:bg>
    <p:spTree>
      <p:nvGrpSpPr>
        <p:cNvPr id="157" name="Shape 157"/>
        <p:cNvGrpSpPr/>
        <p:nvPr/>
      </p:nvGrpSpPr>
      <p:grpSpPr>
        <a:xfrm>
          <a:off x="0" y="0"/>
          <a:ext cx="0" cy="0"/>
          <a:chOff x="0" y="0"/>
          <a:chExt cx="0" cy="0"/>
        </a:xfrm>
      </p:grpSpPr>
      <p:sp>
        <p:nvSpPr>
          <p:cNvPr id="158" name="Google Shape;158;p12"/>
          <p:cNvSpPr txBox="1"/>
          <p:nvPr>
            <p:ph type="title"/>
          </p:nvPr>
        </p:nvSpPr>
        <p:spPr>
          <a:xfrm>
            <a:off x="1084943" y="2635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Roboto"/>
              <a:buNone/>
            </a:pPr>
            <a:r>
              <a:rPr lang="en-US">
                <a:solidFill>
                  <a:schemeClr val="lt1"/>
                </a:solidFill>
                <a:latin typeface="Roboto"/>
                <a:ea typeface="Roboto"/>
                <a:cs typeface="Roboto"/>
                <a:sym typeface="Roboto"/>
              </a:rPr>
              <a:t>C</a:t>
            </a:r>
            <a:r>
              <a:rPr b="0" i="0" lang="en-US">
                <a:solidFill>
                  <a:schemeClr val="lt1"/>
                </a:solidFill>
                <a:latin typeface="Roboto"/>
                <a:ea typeface="Roboto"/>
                <a:cs typeface="Roboto"/>
                <a:sym typeface="Roboto"/>
              </a:rPr>
              <a:t>ompetitors/ Related Products or Projects</a:t>
            </a:r>
            <a:endParaRPr/>
          </a:p>
        </p:txBody>
      </p:sp>
      <p:sp>
        <p:nvSpPr>
          <p:cNvPr id="159" name="Google Shape;159;p12"/>
          <p:cNvSpPr txBox="1"/>
          <p:nvPr>
            <p:ph idx="1" type="body"/>
          </p:nvPr>
        </p:nvSpPr>
        <p:spPr>
          <a:xfrm>
            <a:off x="954314" y="1724024"/>
            <a:ext cx="10515600" cy="5032375"/>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1100"/>
              <a:buFont typeface="Arial"/>
              <a:buNone/>
            </a:pPr>
            <a:r>
              <a:rPr lang="en-US" sz="2000">
                <a:solidFill>
                  <a:schemeClr val="lt1"/>
                </a:solidFill>
              </a:rPr>
              <a:t>Gharpar App</a:t>
            </a:r>
            <a:r>
              <a:rPr lang="en-US" sz="2000">
                <a:solidFill>
                  <a:schemeClr val="lt1"/>
                </a:solidFill>
              </a:rPr>
              <a:t>:</a:t>
            </a:r>
            <a:endParaRPr sz="2000"/>
          </a:p>
          <a:p>
            <a:pPr indent="-50800" lvl="0" marL="228600" rtl="0" algn="l">
              <a:lnSpc>
                <a:spcPct val="90000"/>
              </a:lnSpc>
              <a:spcBef>
                <a:spcPts val="0"/>
              </a:spcBef>
              <a:spcAft>
                <a:spcPts val="0"/>
              </a:spcAft>
              <a:buClr>
                <a:schemeClr val="dk1"/>
              </a:buClr>
              <a:buSzPts val="1100"/>
              <a:buFont typeface="Arial"/>
              <a:buNone/>
            </a:pPr>
            <a:r>
              <a:t/>
            </a:r>
            <a:endParaRPr sz="2000">
              <a:solidFill>
                <a:schemeClr val="lt1"/>
              </a:solidFill>
            </a:endParaRPr>
          </a:p>
          <a:p>
            <a:pPr indent="-50800" lvl="0" marL="228600" rtl="0" algn="l">
              <a:lnSpc>
                <a:spcPct val="90000"/>
              </a:lnSpc>
              <a:spcBef>
                <a:spcPts val="0"/>
              </a:spcBef>
              <a:spcAft>
                <a:spcPts val="0"/>
              </a:spcAft>
              <a:buClr>
                <a:schemeClr val="dk1"/>
              </a:buClr>
              <a:buSzPts val="864"/>
              <a:buNone/>
            </a:pPr>
            <a:r>
              <a:rPr lang="en-US" sz="2000">
                <a:solidFill>
                  <a:schemeClr val="lt1"/>
                </a:solidFill>
              </a:rPr>
              <a:t> Gharpar provides beauty services mainly at home, but it does not offer a centralized platform for managing multiple salons or AI-based personalization. Our system will manage multiple nearby salons and provide AI-based personalized beauty recommendations. </a:t>
            </a:r>
            <a:br>
              <a:rPr lang="en-US" sz="2000">
                <a:solidFill>
                  <a:schemeClr val="lt1"/>
                </a:solidFill>
              </a:rPr>
            </a:br>
            <a:endParaRPr sz="2000">
              <a:solidFill>
                <a:schemeClr val="lt1"/>
              </a:solidFill>
            </a:endParaRPr>
          </a:p>
          <a:p>
            <a:pPr indent="-50800" lvl="0" marL="228600" rtl="0" algn="l">
              <a:lnSpc>
                <a:spcPct val="90000"/>
              </a:lnSpc>
              <a:spcBef>
                <a:spcPts val="0"/>
              </a:spcBef>
              <a:spcAft>
                <a:spcPts val="0"/>
              </a:spcAft>
              <a:buClr>
                <a:schemeClr val="dk1"/>
              </a:buClr>
              <a:buSzPts val="1100"/>
              <a:buNone/>
            </a:pPr>
            <a:r>
              <a:rPr lang="en-US" sz="2000">
                <a:solidFill>
                  <a:schemeClr val="lt1"/>
                </a:solidFill>
              </a:rPr>
              <a:t>Groom Up</a:t>
            </a:r>
            <a:r>
              <a:rPr lang="en-US" sz="2000">
                <a:solidFill>
                  <a:schemeClr val="lt1"/>
                </a:solidFill>
              </a:rPr>
              <a:t> App</a:t>
            </a:r>
            <a:r>
              <a:rPr lang="en-US" sz="2000">
                <a:solidFill>
                  <a:schemeClr val="lt1"/>
                </a:solidFill>
              </a:rPr>
              <a:t>:</a:t>
            </a:r>
            <a:endParaRPr sz="2000"/>
          </a:p>
          <a:p>
            <a:pPr indent="-50800" lvl="0" marL="228600" rtl="0" algn="l">
              <a:lnSpc>
                <a:spcPct val="90000"/>
              </a:lnSpc>
              <a:spcBef>
                <a:spcPts val="0"/>
              </a:spcBef>
              <a:spcAft>
                <a:spcPts val="0"/>
              </a:spcAft>
              <a:buClr>
                <a:schemeClr val="dk1"/>
              </a:buClr>
              <a:buSzPts val="1100"/>
              <a:buNone/>
            </a:pPr>
            <a:r>
              <a:t/>
            </a:r>
            <a:endParaRPr sz="2000">
              <a:solidFill>
                <a:schemeClr val="lt1"/>
              </a:solidFill>
            </a:endParaRPr>
          </a:p>
          <a:p>
            <a:pPr indent="-50800" lvl="0" marL="228600" rtl="0" algn="l">
              <a:lnSpc>
                <a:spcPct val="90000"/>
              </a:lnSpc>
              <a:spcBef>
                <a:spcPts val="0"/>
              </a:spcBef>
              <a:spcAft>
                <a:spcPts val="0"/>
              </a:spcAft>
              <a:buClr>
                <a:schemeClr val="dk1"/>
              </a:buClr>
              <a:buSzPts val="864"/>
              <a:buNone/>
            </a:pPr>
            <a:r>
              <a:rPr lang="en-US" sz="2000">
                <a:solidFill>
                  <a:schemeClr val="lt1"/>
                </a:solidFill>
              </a:rPr>
              <a:t>Groom up</a:t>
            </a:r>
            <a:r>
              <a:rPr lang="en-US" sz="2000">
                <a:solidFill>
                  <a:schemeClr val="lt1"/>
                </a:solidFill>
              </a:rPr>
              <a:t> provides basic salon booking services, but it lacks AI-based recommendations and advanced personalization features. Our system will offer intelligent service suggestions, chatbot assistance, and personalized beauty recommendations.</a:t>
            </a:r>
            <a:endParaRPr sz="2000">
              <a:solidFill>
                <a:schemeClr val="lt1"/>
              </a:solidFill>
            </a:endParaRPr>
          </a:p>
          <a:p>
            <a:pPr indent="-50800" lvl="0" marL="228600" rtl="0" algn="l">
              <a:lnSpc>
                <a:spcPct val="90000"/>
              </a:lnSpc>
              <a:spcBef>
                <a:spcPts val="0"/>
              </a:spcBef>
              <a:spcAft>
                <a:spcPts val="0"/>
              </a:spcAft>
              <a:buClr>
                <a:schemeClr val="dk1"/>
              </a:buClr>
              <a:buSzPts val="1100"/>
              <a:buNone/>
            </a:pPr>
            <a:r>
              <a:t/>
            </a:r>
            <a:endParaRPr sz="2000">
              <a:solidFill>
                <a:schemeClr val="lt1"/>
              </a:solidFill>
            </a:endParaRPr>
          </a:p>
          <a:p>
            <a:pPr indent="-50800" lvl="0" marL="228600" rtl="0" algn="l">
              <a:lnSpc>
                <a:spcPct val="90000"/>
              </a:lnSpc>
              <a:spcBef>
                <a:spcPts val="0"/>
              </a:spcBef>
              <a:spcAft>
                <a:spcPts val="0"/>
              </a:spcAft>
              <a:buClr>
                <a:schemeClr val="dk1"/>
              </a:buClr>
              <a:buSzPts val="1100"/>
              <a:buNone/>
            </a:pPr>
            <a:r>
              <a:rPr lang="en-US" sz="2000">
                <a:solidFill>
                  <a:schemeClr val="lt1"/>
                </a:solidFill>
              </a:rPr>
              <a:t>Cosmo Salon Website:</a:t>
            </a:r>
            <a:endParaRPr sz="2000"/>
          </a:p>
          <a:p>
            <a:pPr indent="-50800" lvl="0" marL="228600" rtl="0" algn="l">
              <a:lnSpc>
                <a:spcPct val="90000"/>
              </a:lnSpc>
              <a:spcBef>
                <a:spcPts val="0"/>
              </a:spcBef>
              <a:spcAft>
                <a:spcPts val="0"/>
              </a:spcAft>
              <a:buClr>
                <a:schemeClr val="dk1"/>
              </a:buClr>
              <a:buSzPts val="1100"/>
              <a:buNone/>
            </a:pPr>
            <a:r>
              <a:t/>
            </a:r>
            <a:endParaRPr sz="2000">
              <a:solidFill>
                <a:schemeClr val="lt1"/>
              </a:solidFill>
            </a:endParaRPr>
          </a:p>
          <a:p>
            <a:pPr indent="-50800" lvl="0" marL="228600" rtl="0" algn="l">
              <a:lnSpc>
                <a:spcPct val="90000"/>
              </a:lnSpc>
              <a:spcBef>
                <a:spcPts val="0"/>
              </a:spcBef>
              <a:spcAft>
                <a:spcPts val="0"/>
              </a:spcAft>
              <a:buClr>
                <a:schemeClr val="dk1"/>
              </a:buClr>
              <a:buSzPts val="864"/>
              <a:buNone/>
            </a:pPr>
            <a:r>
              <a:rPr lang="en-US" sz="2000">
                <a:solidFill>
                  <a:schemeClr val="lt1"/>
                </a:solidFill>
              </a:rPr>
              <a:t>Cosmo salon’s manages salon services but only its own. Our website will manage services for all salons in the nearby area so that user can compare prices and manage its booking time easily.</a:t>
            </a:r>
            <a:endParaRPr sz="20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2024-12-14T12:16:09Z</dcterms:created>
  <dc:creator>Muhammad Asif Subhani</dc:creator>
</cp:coreProperties>
</file>